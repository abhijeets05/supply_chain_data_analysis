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5"/>
    <p:sldId id="288" r:id="rId6"/>
    <p:sldId id="290" r:id="rId7"/>
    <p:sldId id="291" r:id="rId8"/>
    <p:sldId id="294" r:id="rId9"/>
    <p:sldId id="295" r:id="rId10"/>
    <p:sldId id="28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202"/>
    <a:srgbClr val="CFCF03"/>
    <a:srgbClr val="E6F92F"/>
    <a:srgbClr val="FDF8CB"/>
    <a:srgbClr val="5265F0"/>
    <a:srgbClr val="DCE3FC"/>
    <a:srgbClr val="BECBFA"/>
    <a:srgbClr val="FEC88C"/>
    <a:srgbClr val="FFFDAB"/>
    <a:srgbClr val="4974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2" autoAdjust="0"/>
  </p:normalViewPr>
  <p:slideViewPr>
    <p:cSldViewPr snapToGrid="0" showGuides="1">
      <p:cViewPr varScale="1">
        <p:scale>
          <a:sx n="63" d="100"/>
          <a:sy n="63" d="100"/>
        </p:scale>
        <p:origin x="804" y="7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5/11/2026</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5/11/2026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01B18-BFC2-2F08-65B1-772E1C989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8BD1F-54AA-ACBA-F9BD-8454CF295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D18600-1226-A022-51FE-EB37FDB5E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2072A-277F-9D73-F45A-6220A38A32BC}"/>
              </a:ext>
            </a:extLst>
          </p:cNvPr>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405200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CBD02-4225-7199-FE9D-C60CFF3D3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80DAC-0E50-CFFE-FF28-DD9FE28D2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0521D1-5BBF-EECA-47F3-48A00F3B4E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D5A3B-3D7E-74B3-D8AA-7658F62C829B}"/>
              </a:ext>
            </a:extLst>
          </p:cNvPr>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539974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6542-9CD5-4DAE-F6D2-ABBF4197D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1E7CA-94B1-1D30-82B1-5719D57D2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BFD95-BE26-7ED3-A976-087F64C21C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74931C-1A54-3323-DDDA-54D5956622F4}"/>
              </a:ext>
            </a:extLst>
          </p:cNvPr>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4064303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84B22-2A98-7F60-CB9B-B48582E42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CDAFB-F79F-32AC-4285-B9E02F1DE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F5948-AE92-5D75-C550-6A229D8BE8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E91124-F0E8-2AA7-4240-7639FBF1BDFF}"/>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3326544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685BA-8C21-87BB-F4D6-322B313245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E1531-8F65-2956-CA24-481AAF490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53052-A46A-6F43-D6D7-68549837E7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80577-4DB0-956C-6F20-9A7EEE9AC282}"/>
              </a:ext>
            </a:extLst>
          </p:cNvPr>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4161412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5/11/2026</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051559" y="2768903"/>
            <a:ext cx="10088880" cy="3130088"/>
          </a:xfrm>
        </p:spPr>
        <p:txBody>
          <a:bodyPr wrap="square" lIns="0" tIns="0" rIns="0" bIns="0" anchor="t">
            <a:spAutoFit/>
          </a:bodyPr>
          <a:lstStyle/>
          <a:p>
            <a:r>
              <a:rPr lang="en-US" sz="4000" b="1" dirty="0">
                <a:solidFill>
                  <a:schemeClr val="bg1"/>
                </a:solidFill>
              </a:rPr>
              <a:t>Optimizing Supply Chain Efficiency</a:t>
            </a:r>
            <a:br>
              <a:rPr lang="en-US" sz="4000" b="1" dirty="0">
                <a:solidFill>
                  <a:schemeClr val="bg1"/>
                </a:solidFill>
              </a:rPr>
            </a:br>
            <a:r>
              <a:rPr lang="en-US" sz="4000" b="1" dirty="0">
                <a:solidFill>
                  <a:schemeClr val="bg1"/>
                </a:solidFill>
              </a:rPr>
              <a:t>Using Data Analytics</a:t>
            </a:r>
            <a:r>
              <a:rPr lang="en-US" sz="800" b="1" dirty="0">
                <a:solidFill>
                  <a:schemeClr val="bg1"/>
                </a:solidFill>
              </a:rPr>
              <a:t> </a:t>
            </a:r>
            <a:br>
              <a:rPr lang="en-US" sz="4000" b="1" dirty="0">
                <a:solidFill>
                  <a:schemeClr val="bg1"/>
                </a:solidFill>
              </a:rPr>
            </a:br>
            <a:r>
              <a:rPr lang="en-US" sz="2000" b="1" dirty="0">
                <a:solidFill>
                  <a:schemeClr val="bg1"/>
                </a:solidFill>
              </a:rPr>
              <a:t> </a:t>
            </a:r>
            <a:br>
              <a:rPr lang="en-US" sz="4000" b="1" dirty="0">
                <a:solidFill>
                  <a:schemeClr val="bg1"/>
                </a:solidFill>
              </a:rPr>
            </a:br>
            <a:r>
              <a:rPr lang="en-US" sz="1800" b="1" dirty="0">
                <a:solidFill>
                  <a:schemeClr val="bg1"/>
                </a:solidFill>
              </a:rPr>
              <a:t>Excel | Python | SQL | Power BI</a:t>
            </a:r>
            <a:br>
              <a:rPr lang="en-US" sz="3600" b="1" dirty="0">
                <a:solidFill>
                  <a:schemeClr val="bg1"/>
                </a:solidFill>
              </a:rPr>
            </a:br>
            <a:br>
              <a:rPr lang="en-US" b="1" dirty="0">
                <a:solidFill>
                  <a:schemeClr val="bg1"/>
                </a:solidFill>
              </a:rPr>
            </a:br>
            <a:r>
              <a:rPr lang="en-US" sz="2800" dirty="0">
                <a:solidFill>
                  <a:schemeClr val="accent4"/>
                </a:solidFill>
              </a:rPr>
              <a:t>Presentation by Abhijeet Singh</a:t>
            </a:r>
            <a:br>
              <a:rPr lang="en-US" sz="2800" dirty="0">
                <a:solidFill>
                  <a:schemeClr val="accent4"/>
                </a:solidFill>
              </a:rPr>
            </a:br>
            <a:r>
              <a:rPr lang="en-US" sz="2000" dirty="0">
                <a:solidFill>
                  <a:schemeClr val="accent4"/>
                </a:solidFill>
              </a:rPr>
              <a:t>Data Analyst Intern</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0" y="534677"/>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3" name="Picture 2">
            <a:extLst>
              <a:ext uri="{FF2B5EF4-FFF2-40B4-BE49-F238E27FC236}">
                <a16:creationId xmlns:a16="http://schemas.microsoft.com/office/drawing/2014/main" id="{7378C20B-5642-06FB-45F4-268190948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1286" y="5536605"/>
            <a:ext cx="10287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B6EAFA5-0DB8-06AB-B6A9-16E30565E8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1" y="144239"/>
            <a:ext cx="1766236" cy="1766236"/>
          </a:xfrm>
          <a:prstGeom prst="rect">
            <a:avLst/>
          </a:prstGeom>
        </p:spPr>
      </p:pic>
      <p:pic>
        <p:nvPicPr>
          <p:cNvPr id="12" name="Picture 11">
            <a:extLst>
              <a:ext uri="{FF2B5EF4-FFF2-40B4-BE49-F238E27FC236}">
                <a16:creationId xmlns:a16="http://schemas.microsoft.com/office/drawing/2014/main" id="{C6E1B168-A2E0-7D1E-7D50-7D5681D1B4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6817" y="1056421"/>
            <a:ext cx="1269841" cy="1269841"/>
          </a:xfrm>
          <a:prstGeom prst="rect">
            <a:avLst/>
          </a:prstGeom>
        </p:spPr>
      </p:pic>
      <p:pic>
        <p:nvPicPr>
          <p:cNvPr id="14" name="Picture 13">
            <a:extLst>
              <a:ext uri="{FF2B5EF4-FFF2-40B4-BE49-F238E27FC236}">
                <a16:creationId xmlns:a16="http://schemas.microsoft.com/office/drawing/2014/main" id="{0F984178-CA3D-3F13-B1FC-BE44FB6936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10715" y="146096"/>
            <a:ext cx="1269841" cy="1269841"/>
          </a:xfrm>
          <a:prstGeom prst="rect">
            <a:avLst/>
          </a:prstGeom>
        </p:spPr>
      </p:pic>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1353-C5A3-C9B8-7E0E-A33C2D4E9FAD}"/>
            </a:ext>
          </a:extLst>
        </p:cNvPr>
        <p:cNvGrpSpPr/>
        <p:nvPr/>
      </p:nvGrpSpPr>
      <p:grpSpPr>
        <a:xfrm>
          <a:off x="0" y="0"/>
          <a:ext cx="0" cy="0"/>
          <a:chOff x="0" y="0"/>
          <a:chExt cx="0" cy="0"/>
        </a:xfrm>
      </p:grpSpPr>
      <p:sp>
        <p:nvSpPr>
          <p:cNvPr id="9" name="Title 8" hidden="1">
            <a:extLst>
              <a:ext uri="{FF2B5EF4-FFF2-40B4-BE49-F238E27FC236}">
                <a16:creationId xmlns:a16="http://schemas.microsoft.com/office/drawing/2014/main" id="{7BA9E763-7DB5-CD5E-6BF0-FB9814ECAC19}"/>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0FE9C0ED-5A42-4874-ABB7-993403AFDF7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DFCB90DC-54D0-F5E5-17D4-0CE6845195A1}"/>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Business Problem</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48C4F497-7757-53DF-C473-A6B5ACB1167A}"/>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C587453-0115-7C70-F907-1B919B8989E7}"/>
              </a:ext>
            </a:extLst>
          </p:cNvPr>
          <p:cNvSpPr txBox="1"/>
          <p:nvPr/>
        </p:nvSpPr>
        <p:spPr>
          <a:xfrm>
            <a:off x="890342" y="2122587"/>
            <a:ext cx="4182728" cy="3416320"/>
          </a:xfrm>
          <a:prstGeom prst="rect">
            <a:avLst/>
          </a:prstGeom>
          <a:solidFill>
            <a:schemeClr val="bg1">
              <a:lumMod val="95000"/>
            </a:schemeClr>
          </a:solidFill>
        </p:spPr>
        <p:txBody>
          <a:bodyPr wrap="square" rtlCol="0">
            <a:spAutoFit/>
          </a:bodyPr>
          <a:lstStyle/>
          <a:p>
            <a:r>
              <a:rPr lang="en-US" sz="2400" dirty="0"/>
              <a:t>Our company is experiencing inefficiencies in supply chain management, resulting in delayed deliveries, inventory imbalances (excess stock in some warehouses and shortages in others), higher operational costs, and reduced customer satisfaction.</a:t>
            </a:r>
            <a:endParaRPr lang="en-IN" sz="2400" dirty="0"/>
          </a:p>
        </p:txBody>
      </p:sp>
      <p:cxnSp>
        <p:nvCxnSpPr>
          <p:cNvPr id="17" name="Straight Connector 16">
            <a:extLst>
              <a:ext uri="{FF2B5EF4-FFF2-40B4-BE49-F238E27FC236}">
                <a16:creationId xmlns:a16="http://schemas.microsoft.com/office/drawing/2014/main" id="{EE8CB35D-D914-92E0-AD1E-35567440D955}"/>
              </a:ext>
            </a:extLst>
          </p:cNvPr>
          <p:cNvCxnSpPr>
            <a:cxnSpLocks/>
          </p:cNvCxnSpPr>
          <p:nvPr/>
        </p:nvCxnSpPr>
        <p:spPr>
          <a:xfrm>
            <a:off x="5903494" y="946848"/>
            <a:ext cx="0" cy="5369005"/>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51B3FCEC-6324-B76D-48BA-F7E102B636E5}"/>
              </a:ext>
            </a:extLst>
          </p:cNvPr>
          <p:cNvGrpSpPr/>
          <p:nvPr/>
        </p:nvGrpSpPr>
        <p:grpSpPr>
          <a:xfrm>
            <a:off x="6066588" y="1336602"/>
            <a:ext cx="5761536" cy="4775730"/>
            <a:chOff x="6060780" y="1269115"/>
            <a:chExt cx="5761536" cy="4775730"/>
          </a:xfrm>
        </p:grpSpPr>
        <p:pic>
          <p:nvPicPr>
            <p:cNvPr id="5" name="Picture 4">
              <a:extLst>
                <a:ext uri="{FF2B5EF4-FFF2-40B4-BE49-F238E27FC236}">
                  <a16:creationId xmlns:a16="http://schemas.microsoft.com/office/drawing/2014/main" id="{467DC0AE-D7CA-1A63-EE96-D6BC022D4B61}"/>
                </a:ext>
              </a:extLst>
            </p:cNvPr>
            <p:cNvPicPr>
              <a:picLocks noChangeAspect="1"/>
            </p:cNvPicPr>
            <p:nvPr/>
          </p:nvPicPr>
          <p:blipFill>
            <a:blip r:embed="rId3">
              <a:extLst>
                <a:ext uri="{28A0092B-C50C-407E-A947-70E740481C1C}">
                  <a14:useLocalDpi xmlns:a14="http://schemas.microsoft.com/office/drawing/2010/main" val="0"/>
                </a:ext>
              </a:extLst>
            </a:blip>
            <a:srcRect l="53456" t="16159" r="30865" b="65415"/>
            <a:stretch>
              <a:fillRect/>
            </a:stretch>
          </p:blipFill>
          <p:spPr>
            <a:xfrm>
              <a:off x="6851719" y="1269115"/>
              <a:ext cx="1366506" cy="1070609"/>
            </a:xfrm>
            <a:prstGeom prst="rect">
              <a:avLst/>
            </a:prstGeom>
          </p:spPr>
        </p:pic>
        <p:pic>
          <p:nvPicPr>
            <p:cNvPr id="7" name="Picture 6">
              <a:extLst>
                <a:ext uri="{FF2B5EF4-FFF2-40B4-BE49-F238E27FC236}">
                  <a16:creationId xmlns:a16="http://schemas.microsoft.com/office/drawing/2014/main" id="{5B4FF7D5-8075-BE56-4959-C6B8CFEA8F64}"/>
                </a:ext>
              </a:extLst>
            </p:cNvPr>
            <p:cNvPicPr>
              <a:picLocks noChangeAspect="1"/>
            </p:cNvPicPr>
            <p:nvPr/>
          </p:nvPicPr>
          <p:blipFill>
            <a:blip r:embed="rId3">
              <a:extLst>
                <a:ext uri="{28A0092B-C50C-407E-A947-70E740481C1C}">
                  <a14:useLocalDpi xmlns:a14="http://schemas.microsoft.com/office/drawing/2010/main" val="0"/>
                </a:ext>
              </a:extLst>
            </a:blip>
            <a:srcRect l="75376" t="15630" r="4025" b="65416"/>
            <a:stretch>
              <a:fillRect/>
            </a:stretch>
          </p:blipFill>
          <p:spPr>
            <a:xfrm>
              <a:off x="9573443" y="1269115"/>
              <a:ext cx="1745334" cy="1070609"/>
            </a:xfrm>
            <a:prstGeom prst="rect">
              <a:avLst/>
            </a:prstGeom>
          </p:spPr>
        </p:pic>
        <p:pic>
          <p:nvPicPr>
            <p:cNvPr id="12" name="Picture 11">
              <a:extLst>
                <a:ext uri="{FF2B5EF4-FFF2-40B4-BE49-F238E27FC236}">
                  <a16:creationId xmlns:a16="http://schemas.microsoft.com/office/drawing/2014/main" id="{984AC4C1-DB3C-0D57-DDBC-91B6ADE4F162}"/>
                </a:ext>
              </a:extLst>
            </p:cNvPr>
            <p:cNvPicPr>
              <a:picLocks noChangeAspect="1"/>
            </p:cNvPicPr>
            <p:nvPr/>
          </p:nvPicPr>
          <p:blipFill>
            <a:blip r:embed="rId3">
              <a:extLst>
                <a:ext uri="{28A0092B-C50C-407E-A947-70E740481C1C}">
                  <a14:useLocalDpi xmlns:a14="http://schemas.microsoft.com/office/drawing/2010/main" val="0"/>
                </a:ext>
              </a:extLst>
            </a:blip>
            <a:srcRect l="53672" t="51528" r="31976" b="31574"/>
            <a:stretch>
              <a:fillRect/>
            </a:stretch>
          </p:blipFill>
          <p:spPr>
            <a:xfrm>
              <a:off x="6629402" y="3581400"/>
              <a:ext cx="1363928" cy="1070610"/>
            </a:xfrm>
            <a:prstGeom prst="rect">
              <a:avLst/>
            </a:prstGeom>
          </p:spPr>
        </p:pic>
        <p:pic>
          <p:nvPicPr>
            <p:cNvPr id="15" name="Picture 14">
              <a:extLst>
                <a:ext uri="{FF2B5EF4-FFF2-40B4-BE49-F238E27FC236}">
                  <a16:creationId xmlns:a16="http://schemas.microsoft.com/office/drawing/2014/main" id="{F7A74D43-6D0F-BF31-467B-A4A756BE5738}"/>
                </a:ext>
              </a:extLst>
            </p:cNvPr>
            <p:cNvPicPr>
              <a:picLocks noChangeAspect="1"/>
            </p:cNvPicPr>
            <p:nvPr/>
          </p:nvPicPr>
          <p:blipFill>
            <a:blip r:embed="rId3">
              <a:extLst>
                <a:ext uri="{28A0092B-C50C-407E-A947-70E740481C1C}">
                  <a14:useLocalDpi xmlns:a14="http://schemas.microsoft.com/office/drawing/2010/main" val="0"/>
                </a:ext>
              </a:extLst>
            </a:blip>
            <a:srcRect l="77703" t="52815" r="6494" b="31574"/>
            <a:stretch>
              <a:fillRect/>
            </a:stretch>
          </p:blipFill>
          <p:spPr>
            <a:xfrm>
              <a:off x="9606279" y="3581400"/>
              <a:ext cx="1625600" cy="1070609"/>
            </a:xfrm>
            <a:prstGeom prst="rect">
              <a:avLst/>
            </a:prstGeom>
          </p:spPr>
        </p:pic>
        <p:sp>
          <p:nvSpPr>
            <p:cNvPr id="24" name="TextBox 23">
              <a:extLst>
                <a:ext uri="{FF2B5EF4-FFF2-40B4-BE49-F238E27FC236}">
                  <a16:creationId xmlns:a16="http://schemas.microsoft.com/office/drawing/2014/main" id="{8882AA32-8C54-E008-E492-66F515A49A1E}"/>
                </a:ext>
              </a:extLst>
            </p:cNvPr>
            <p:cNvSpPr txBox="1"/>
            <p:nvPr/>
          </p:nvSpPr>
          <p:spPr>
            <a:xfrm>
              <a:off x="6184583" y="2408524"/>
              <a:ext cx="2663721" cy="1107996"/>
            </a:xfrm>
            <a:prstGeom prst="rect">
              <a:avLst/>
            </a:prstGeom>
            <a:noFill/>
          </p:spPr>
          <p:txBody>
            <a:bodyPr wrap="square" rtlCol="0">
              <a:spAutoFit/>
            </a:bodyPr>
            <a:lstStyle/>
            <a:p>
              <a:pPr algn="ctr"/>
              <a:r>
                <a:rPr lang="en-US" b="1" dirty="0"/>
                <a:t>DELAYED DELIVERIES</a:t>
              </a:r>
            </a:p>
            <a:p>
              <a:pPr algn="ctr"/>
              <a:r>
                <a:rPr lang="en-US" sz="1600" dirty="0"/>
                <a:t>Shipments are talking longer than expected, affecting customer satisfaction</a:t>
              </a:r>
              <a:endParaRPr lang="en-IN" sz="1600" dirty="0"/>
            </a:p>
          </p:txBody>
        </p:sp>
        <p:sp>
          <p:nvSpPr>
            <p:cNvPr id="25" name="TextBox 24">
              <a:extLst>
                <a:ext uri="{FF2B5EF4-FFF2-40B4-BE49-F238E27FC236}">
                  <a16:creationId xmlns:a16="http://schemas.microsoft.com/office/drawing/2014/main" id="{154F17ED-6531-37CE-AB1B-D3C35A634839}"/>
                </a:ext>
              </a:extLst>
            </p:cNvPr>
            <p:cNvSpPr txBox="1"/>
            <p:nvPr/>
          </p:nvSpPr>
          <p:spPr>
            <a:xfrm>
              <a:off x="9069904" y="2425452"/>
              <a:ext cx="2752412" cy="1107996"/>
            </a:xfrm>
            <a:prstGeom prst="rect">
              <a:avLst/>
            </a:prstGeom>
            <a:noFill/>
          </p:spPr>
          <p:txBody>
            <a:bodyPr wrap="square" rtlCol="0">
              <a:spAutoFit/>
            </a:bodyPr>
            <a:lstStyle/>
            <a:p>
              <a:pPr algn="ctr"/>
              <a:r>
                <a:rPr lang="en-US" b="1" dirty="0"/>
                <a:t>INVENTORY IMBALANCE</a:t>
              </a:r>
            </a:p>
            <a:p>
              <a:pPr algn="ctr"/>
              <a:r>
                <a:rPr lang="en-US" sz="1600" dirty="0"/>
                <a:t>Excess stock in some warehouse while other locations face stockouts.</a:t>
              </a:r>
              <a:endParaRPr lang="en-IN" sz="1600" dirty="0"/>
            </a:p>
          </p:txBody>
        </p:sp>
        <p:sp>
          <p:nvSpPr>
            <p:cNvPr id="26" name="TextBox 25">
              <a:extLst>
                <a:ext uri="{FF2B5EF4-FFF2-40B4-BE49-F238E27FC236}">
                  <a16:creationId xmlns:a16="http://schemas.microsoft.com/office/drawing/2014/main" id="{266134ED-A458-8A7A-00CF-5D627FBE84E6}"/>
                </a:ext>
              </a:extLst>
            </p:cNvPr>
            <p:cNvSpPr txBox="1"/>
            <p:nvPr/>
          </p:nvSpPr>
          <p:spPr>
            <a:xfrm>
              <a:off x="6060780" y="4720810"/>
              <a:ext cx="2911328" cy="1107996"/>
            </a:xfrm>
            <a:prstGeom prst="rect">
              <a:avLst/>
            </a:prstGeom>
            <a:noFill/>
          </p:spPr>
          <p:txBody>
            <a:bodyPr wrap="square" rtlCol="0">
              <a:spAutoFit/>
            </a:bodyPr>
            <a:lstStyle/>
            <a:p>
              <a:pPr algn="ctr"/>
              <a:r>
                <a:rPr lang="en-US" b="1" dirty="0"/>
                <a:t>HIGH OPERATIONAL COSTS</a:t>
              </a:r>
            </a:p>
            <a:p>
              <a:pPr algn="ctr"/>
              <a:r>
                <a:rPr lang="en-US" sz="1600" dirty="0"/>
                <a:t>Inefficient operations lead to higher transportation, storage, and handling costs.</a:t>
              </a:r>
              <a:endParaRPr lang="en-IN" sz="1600" dirty="0"/>
            </a:p>
          </p:txBody>
        </p:sp>
        <p:sp>
          <p:nvSpPr>
            <p:cNvPr id="27" name="TextBox 26">
              <a:extLst>
                <a:ext uri="{FF2B5EF4-FFF2-40B4-BE49-F238E27FC236}">
                  <a16:creationId xmlns:a16="http://schemas.microsoft.com/office/drawing/2014/main" id="{48C4AB3D-C74A-249F-18BD-382ACC711741}"/>
                </a:ext>
              </a:extLst>
            </p:cNvPr>
            <p:cNvSpPr txBox="1"/>
            <p:nvPr/>
          </p:nvSpPr>
          <p:spPr>
            <a:xfrm>
              <a:off x="9114423" y="4659850"/>
              <a:ext cx="2609311" cy="1384995"/>
            </a:xfrm>
            <a:prstGeom prst="rect">
              <a:avLst/>
            </a:prstGeom>
            <a:noFill/>
          </p:spPr>
          <p:txBody>
            <a:bodyPr wrap="square" rtlCol="0">
              <a:spAutoFit/>
            </a:bodyPr>
            <a:lstStyle/>
            <a:p>
              <a:pPr algn="ctr"/>
              <a:r>
                <a:rPr lang="en-US" b="1" dirty="0"/>
                <a:t>REDUCED CUSTOMER SATISFACTION</a:t>
              </a:r>
              <a:endParaRPr lang="en-US" dirty="0"/>
            </a:p>
            <a:p>
              <a:pPr algn="ctr"/>
              <a:r>
                <a:rPr lang="en-US" sz="1600" dirty="0"/>
                <a:t>Delays and stock issues result in unhappy customers and reduced loyalty.</a:t>
              </a:r>
              <a:endParaRPr lang="en-IN" sz="1600" dirty="0"/>
            </a:p>
          </p:txBody>
        </p:sp>
      </p:grpSp>
      <p:sp>
        <p:nvSpPr>
          <p:cNvPr id="34" name="Rectangle: Rounded Corners 33">
            <a:extLst>
              <a:ext uri="{FF2B5EF4-FFF2-40B4-BE49-F238E27FC236}">
                <a16:creationId xmlns:a16="http://schemas.microsoft.com/office/drawing/2014/main" id="{E4B53DC6-ABE4-42C7-9E3C-9E0F4CFBE0B4}"/>
              </a:ext>
            </a:extLst>
          </p:cNvPr>
          <p:cNvSpPr/>
          <p:nvPr/>
        </p:nvSpPr>
        <p:spPr>
          <a:xfrm>
            <a:off x="308536" y="1526990"/>
            <a:ext cx="5346340" cy="595597"/>
          </a:xfrm>
          <a:prstGeom prst="roundRect">
            <a:avLst>
              <a:gd name="adj" fmla="val 19493"/>
            </a:avLst>
          </a:prstGeom>
          <a:solidFill>
            <a:srgbClr val="FFFDAB"/>
          </a:solid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PROBLEM STATEMENT</a:t>
            </a:r>
          </a:p>
        </p:txBody>
      </p:sp>
      <p:pic>
        <p:nvPicPr>
          <p:cNvPr id="39" name="Graphic 38" descr="Warning with solid fill">
            <a:extLst>
              <a:ext uri="{FF2B5EF4-FFF2-40B4-BE49-F238E27FC236}">
                <a16:creationId xmlns:a16="http://schemas.microsoft.com/office/drawing/2014/main" id="{E261C67F-9500-DD24-0865-1721FE1690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618" y="1213808"/>
            <a:ext cx="775592" cy="775592"/>
          </a:xfrm>
          <a:prstGeom prst="rect">
            <a:avLst/>
          </a:prstGeom>
        </p:spPr>
      </p:pic>
    </p:spTree>
    <p:extLst>
      <p:ext uri="{BB962C8B-B14F-4D97-AF65-F5344CB8AC3E}">
        <p14:creationId xmlns:p14="http://schemas.microsoft.com/office/powerpoint/2010/main" val="3760098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3C7A3-0658-686A-1B66-BB760AAD2D52}"/>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0E59EA7F-B7DB-057C-DD98-CAD4E03B475A}"/>
              </a:ext>
            </a:extLst>
          </p:cNvPr>
          <p:cNvSpPr/>
          <p:nvPr/>
        </p:nvSpPr>
        <p:spPr>
          <a:xfrm>
            <a:off x="332297" y="810741"/>
            <a:ext cx="2801510" cy="4100357"/>
          </a:xfrm>
          <a:prstGeom prst="roundRect">
            <a:avLst>
              <a:gd name="adj" fmla="val 4412"/>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9" name="Title 8" hidden="1">
            <a:extLst>
              <a:ext uri="{FF2B5EF4-FFF2-40B4-BE49-F238E27FC236}">
                <a16:creationId xmlns:a16="http://schemas.microsoft.com/office/drawing/2014/main" id="{8D5E498A-A651-0766-8C91-3502959F7D1E}"/>
              </a:ext>
            </a:extLst>
          </p:cNvPr>
          <p:cNvSpPr>
            <a:spLocks noGrp="1"/>
          </p:cNvSpPr>
          <p:nvPr>
            <p:ph type="title" idx="4294967295"/>
          </p:nvPr>
        </p:nvSpPr>
        <p:spPr>
          <a:xfrm>
            <a:off x="0" y="365125"/>
            <a:ext cx="10515600" cy="1325563"/>
          </a:xfrm>
        </p:spPr>
        <p:txBody>
          <a:bodyPr/>
          <a:lstStyle/>
          <a:p>
            <a:r>
              <a:rPr lang="en-US" dirty="0"/>
              <a:t>Project analysis slide 3</a:t>
            </a:r>
          </a:p>
        </p:txBody>
      </p:sp>
      <p:sp>
        <p:nvSpPr>
          <p:cNvPr id="22" name="Rectangle: Rounded Corners 21">
            <a:extLst>
              <a:ext uri="{FF2B5EF4-FFF2-40B4-BE49-F238E27FC236}">
                <a16:creationId xmlns:a16="http://schemas.microsoft.com/office/drawing/2014/main" id="{00758ABD-F437-7345-62AD-E2FC0D2AA2EB}"/>
              </a:ext>
            </a:extLst>
          </p:cNvPr>
          <p:cNvSpPr/>
          <p:nvPr/>
        </p:nvSpPr>
        <p:spPr>
          <a:xfrm>
            <a:off x="332297" y="2840768"/>
            <a:ext cx="2801510" cy="2732555"/>
          </a:xfrm>
          <a:prstGeom prst="roundRect">
            <a:avLst>
              <a:gd name="adj" fmla="val 4412"/>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cxnSp>
        <p:nvCxnSpPr>
          <p:cNvPr id="8" name="Straight Connector 7">
            <a:extLst>
              <a:ext uri="{FF2B5EF4-FFF2-40B4-BE49-F238E27FC236}">
                <a16:creationId xmlns:a16="http://schemas.microsoft.com/office/drawing/2014/main" id="{E533A9A6-6C56-306D-8E12-B9D8438AC257}"/>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C2F352B-C64C-4469-A32A-DD0383798FF9}"/>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Objective</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F33D74C7-2BAE-E2D1-D2D9-0F88DDE12CC7}"/>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864F2B27-6D14-F7EE-C3BE-47625138118A}"/>
              </a:ext>
            </a:extLst>
          </p:cNvPr>
          <p:cNvSpPr/>
          <p:nvPr/>
        </p:nvSpPr>
        <p:spPr>
          <a:xfrm>
            <a:off x="332297" y="1950795"/>
            <a:ext cx="2801510" cy="348096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ysClr val="windowText" lastClr="000000"/>
                </a:solidFill>
              </a:rPr>
              <a:t>MINIMIZE DELIVERY</a:t>
            </a:r>
          </a:p>
          <a:p>
            <a:pPr algn="ctr"/>
            <a:r>
              <a:rPr lang="en-IN" sz="2000" b="1" dirty="0">
                <a:solidFill>
                  <a:sysClr val="windowText" lastClr="000000"/>
                </a:solidFill>
              </a:rPr>
              <a:t>DEALAYS</a:t>
            </a:r>
          </a:p>
          <a:p>
            <a:pPr algn="ctr"/>
            <a:endParaRPr lang="en-IN" sz="1400" dirty="0">
              <a:solidFill>
                <a:sysClr val="windowText" lastClr="000000"/>
              </a:solidFill>
            </a:endParaRPr>
          </a:p>
          <a:p>
            <a:pPr algn="ctr"/>
            <a:r>
              <a:rPr lang="en-IN" sz="1600" dirty="0">
                <a:solidFill>
                  <a:sysClr val="windowText" lastClr="000000"/>
                </a:solidFill>
              </a:rPr>
              <a:t>Identify warehouse with prolonged shipping times and optimize delivery routes.</a:t>
            </a:r>
          </a:p>
          <a:p>
            <a:pPr algn="ctr"/>
            <a:endParaRPr lang="en-IN" sz="16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Analyze warehouse delivery performance.</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Identify shipment bottlenecks.</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Improve route efficiency.</a:t>
            </a:r>
            <a:endParaRPr lang="en-IN" sz="1600" dirty="0">
              <a:solidFill>
                <a:sysClr val="windowText" lastClr="000000"/>
              </a:solidFill>
            </a:endParaRPr>
          </a:p>
        </p:txBody>
      </p:sp>
      <p:sp>
        <p:nvSpPr>
          <p:cNvPr id="13" name="Rectangle: Rounded Corners 12">
            <a:extLst>
              <a:ext uri="{FF2B5EF4-FFF2-40B4-BE49-F238E27FC236}">
                <a16:creationId xmlns:a16="http://schemas.microsoft.com/office/drawing/2014/main" id="{4DAE4111-B5FE-20BD-5B61-8338332703F3}"/>
              </a:ext>
            </a:extLst>
          </p:cNvPr>
          <p:cNvSpPr/>
          <p:nvPr/>
        </p:nvSpPr>
        <p:spPr>
          <a:xfrm>
            <a:off x="228601" y="5806264"/>
            <a:ext cx="3019506" cy="850604"/>
          </a:xfrm>
          <a:prstGeom prst="roundRect">
            <a:avLst>
              <a:gd name="adj" fmla="val 11667"/>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tx1"/>
                </a:solidFill>
              </a:rPr>
              <a:t>OVERALL</a:t>
            </a:r>
          </a:p>
          <a:p>
            <a:pPr algn="ctr"/>
            <a:r>
              <a:rPr lang="en-IN" b="1" dirty="0">
                <a:solidFill>
                  <a:schemeClr val="tx1"/>
                </a:solidFill>
              </a:rPr>
              <a:t>GOAL</a:t>
            </a:r>
          </a:p>
        </p:txBody>
      </p:sp>
      <p:sp>
        <p:nvSpPr>
          <p:cNvPr id="10" name="Rectangle: Rounded Corners 9">
            <a:extLst>
              <a:ext uri="{FF2B5EF4-FFF2-40B4-BE49-F238E27FC236}">
                <a16:creationId xmlns:a16="http://schemas.microsoft.com/office/drawing/2014/main" id="{9B54BD54-5897-B706-6350-86532B205752}"/>
              </a:ext>
            </a:extLst>
          </p:cNvPr>
          <p:cNvSpPr/>
          <p:nvPr/>
        </p:nvSpPr>
        <p:spPr>
          <a:xfrm>
            <a:off x="2483318" y="5806264"/>
            <a:ext cx="9480082" cy="850604"/>
          </a:xfrm>
          <a:prstGeom prst="roundRect">
            <a:avLst>
              <a:gd name="adj" fmla="val 11667"/>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ysClr val="windowText" lastClr="000000"/>
                </a:solidFill>
              </a:rPr>
              <a:t>Develop a data-driven analytics solution to optimize delivery performance, balance inventory, forecast demand accuracy and maximize probability.</a:t>
            </a:r>
            <a:endParaRPr lang="en-IN" dirty="0">
              <a:solidFill>
                <a:sysClr val="windowText" lastClr="000000"/>
              </a:solidFill>
            </a:endParaRPr>
          </a:p>
        </p:txBody>
      </p:sp>
      <p:pic>
        <p:nvPicPr>
          <p:cNvPr id="16" name="Graphic 15" descr="Bullseye with solid fill">
            <a:extLst>
              <a:ext uri="{FF2B5EF4-FFF2-40B4-BE49-F238E27FC236}">
                <a16:creationId xmlns:a16="http://schemas.microsoft.com/office/drawing/2014/main" id="{9FFCABAE-D40E-95A9-B90E-11D37EE765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2297" y="5806264"/>
            <a:ext cx="844391" cy="844391"/>
          </a:xfrm>
          <a:prstGeom prst="rect">
            <a:avLst/>
          </a:prstGeom>
        </p:spPr>
      </p:pic>
      <p:cxnSp>
        <p:nvCxnSpPr>
          <p:cNvPr id="20" name="Straight Connector 19">
            <a:extLst>
              <a:ext uri="{FF2B5EF4-FFF2-40B4-BE49-F238E27FC236}">
                <a16:creationId xmlns:a16="http://schemas.microsoft.com/office/drawing/2014/main" id="{1596A480-45F2-A8ED-846C-1E5C77CF8875}"/>
              </a:ext>
            </a:extLst>
          </p:cNvPr>
          <p:cNvCxnSpPr/>
          <p:nvPr/>
        </p:nvCxnSpPr>
        <p:spPr>
          <a:xfrm>
            <a:off x="2425568" y="6025413"/>
            <a:ext cx="0" cy="37706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3C18D1AC-7EA7-A1FC-673F-8A0581F08233}"/>
              </a:ext>
            </a:extLst>
          </p:cNvPr>
          <p:cNvSpPr/>
          <p:nvPr/>
        </p:nvSpPr>
        <p:spPr>
          <a:xfrm>
            <a:off x="3248107" y="810741"/>
            <a:ext cx="2801510" cy="4100357"/>
          </a:xfrm>
          <a:prstGeom prst="roundRect">
            <a:avLst>
              <a:gd name="adj" fmla="val 4412"/>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48" name="Rectangle: Rounded Corners 47">
            <a:extLst>
              <a:ext uri="{FF2B5EF4-FFF2-40B4-BE49-F238E27FC236}">
                <a16:creationId xmlns:a16="http://schemas.microsoft.com/office/drawing/2014/main" id="{99AF7B84-95EC-54BC-6591-47A86C343CC4}"/>
              </a:ext>
            </a:extLst>
          </p:cNvPr>
          <p:cNvSpPr/>
          <p:nvPr/>
        </p:nvSpPr>
        <p:spPr>
          <a:xfrm>
            <a:off x="3248107" y="2840768"/>
            <a:ext cx="2801510" cy="2732555"/>
          </a:xfrm>
          <a:prstGeom prst="roundRect">
            <a:avLst>
              <a:gd name="adj" fmla="val 4412"/>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49" name="Rectangle 48">
            <a:extLst>
              <a:ext uri="{FF2B5EF4-FFF2-40B4-BE49-F238E27FC236}">
                <a16:creationId xmlns:a16="http://schemas.microsoft.com/office/drawing/2014/main" id="{70B517E9-FA8C-A8F6-DC92-48D510DE895C}"/>
              </a:ext>
            </a:extLst>
          </p:cNvPr>
          <p:cNvSpPr/>
          <p:nvPr/>
        </p:nvSpPr>
        <p:spPr>
          <a:xfrm>
            <a:off x="3248107" y="1950794"/>
            <a:ext cx="2801510" cy="348096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ysClr val="windowText" lastClr="000000"/>
                </a:solidFill>
              </a:rPr>
              <a:t>ENHANCE INVENTORY MANAGEMENT</a:t>
            </a:r>
          </a:p>
          <a:p>
            <a:pPr algn="ctr"/>
            <a:endParaRPr lang="en-IN" sz="1400" dirty="0">
              <a:solidFill>
                <a:sysClr val="windowText" lastClr="000000"/>
              </a:solidFill>
            </a:endParaRPr>
          </a:p>
          <a:p>
            <a:pPr algn="ctr"/>
            <a:r>
              <a:rPr lang="en-US" sz="1600" dirty="0">
                <a:solidFill>
                  <a:sysClr val="windowText" lastClr="000000"/>
                </a:solidFill>
              </a:rPr>
              <a:t>Balance inventory levels across warehouses based on demand trends and stock availability. </a:t>
            </a:r>
          </a:p>
          <a:p>
            <a:pPr algn="ctr"/>
            <a:endParaRPr lang="en-US" sz="16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Reduce overstock and stock shortages.</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Improve inventory visibility.</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Maintain optimal stock levels.</a:t>
            </a:r>
            <a:endParaRPr lang="en-IN" sz="1600" dirty="0">
              <a:solidFill>
                <a:sysClr val="windowText" lastClr="000000"/>
              </a:solidFill>
            </a:endParaRPr>
          </a:p>
        </p:txBody>
      </p:sp>
      <p:sp>
        <p:nvSpPr>
          <p:cNvPr id="51" name="Rectangle: Rounded Corners 50">
            <a:extLst>
              <a:ext uri="{FF2B5EF4-FFF2-40B4-BE49-F238E27FC236}">
                <a16:creationId xmlns:a16="http://schemas.microsoft.com/office/drawing/2014/main" id="{B55DEBD2-626B-BC03-8FAB-F93644148D43}"/>
              </a:ext>
            </a:extLst>
          </p:cNvPr>
          <p:cNvSpPr/>
          <p:nvPr/>
        </p:nvSpPr>
        <p:spPr>
          <a:xfrm>
            <a:off x="6163917" y="810741"/>
            <a:ext cx="2801510" cy="4100357"/>
          </a:xfrm>
          <a:prstGeom prst="roundRect">
            <a:avLst>
              <a:gd name="adj" fmla="val 4412"/>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52" name="Rectangle: Rounded Corners 51">
            <a:extLst>
              <a:ext uri="{FF2B5EF4-FFF2-40B4-BE49-F238E27FC236}">
                <a16:creationId xmlns:a16="http://schemas.microsoft.com/office/drawing/2014/main" id="{A10B7A51-DBA5-CEB7-E83E-71CA1F2EEC64}"/>
              </a:ext>
            </a:extLst>
          </p:cNvPr>
          <p:cNvSpPr/>
          <p:nvPr/>
        </p:nvSpPr>
        <p:spPr>
          <a:xfrm>
            <a:off x="6163917" y="2840768"/>
            <a:ext cx="2801510" cy="2732555"/>
          </a:xfrm>
          <a:prstGeom prst="roundRect">
            <a:avLst>
              <a:gd name="adj" fmla="val 441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53" name="Rectangle 52">
            <a:extLst>
              <a:ext uri="{FF2B5EF4-FFF2-40B4-BE49-F238E27FC236}">
                <a16:creationId xmlns:a16="http://schemas.microsoft.com/office/drawing/2014/main" id="{648598A1-92F0-A55C-2585-7AE5A75C0772}"/>
              </a:ext>
            </a:extLst>
          </p:cNvPr>
          <p:cNvSpPr/>
          <p:nvPr/>
        </p:nvSpPr>
        <p:spPr>
          <a:xfrm>
            <a:off x="6163917" y="1938027"/>
            <a:ext cx="2801510" cy="3493732"/>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IMPROVE DEMAND FORECASTING</a:t>
            </a:r>
          </a:p>
          <a:p>
            <a:pPr algn="ctr"/>
            <a:endParaRPr lang="en-US" sz="1400" b="1" dirty="0">
              <a:solidFill>
                <a:sysClr val="windowText" lastClr="000000"/>
              </a:solidFill>
            </a:endParaRPr>
          </a:p>
          <a:p>
            <a:pPr algn="ctr"/>
            <a:r>
              <a:rPr lang="en-US" sz="1600" dirty="0">
                <a:solidFill>
                  <a:sysClr val="windowText" lastClr="000000"/>
                </a:solidFill>
              </a:rPr>
              <a:t>Use historical sales and demand data to predict future demand accurately.</a:t>
            </a:r>
          </a:p>
          <a:p>
            <a:pPr algn="ctr"/>
            <a:r>
              <a:rPr lang="en-US" sz="1600" dirty="0">
                <a:solidFill>
                  <a:sysClr val="windowText" lastClr="000000"/>
                </a:solidFill>
              </a:rPr>
              <a:t> </a:t>
            </a:r>
          </a:p>
          <a:p>
            <a:pPr marL="285750" indent="-285750">
              <a:buFont typeface="Arial" panose="020B0604020202020204" pitchFamily="34" charset="0"/>
              <a:buChar char="•"/>
            </a:pPr>
            <a:r>
              <a:rPr lang="en-US" sz="1600" dirty="0">
                <a:solidFill>
                  <a:sysClr val="windowText" lastClr="000000"/>
                </a:solidFill>
              </a:rPr>
              <a:t>Analyze demand patterns.</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Forecast future inventory needs.</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Support better planning decisions</a:t>
            </a:r>
            <a:endParaRPr lang="en-IN" sz="1600" dirty="0">
              <a:solidFill>
                <a:sysClr val="windowText" lastClr="000000"/>
              </a:solidFill>
            </a:endParaRPr>
          </a:p>
        </p:txBody>
      </p:sp>
      <p:sp>
        <p:nvSpPr>
          <p:cNvPr id="55" name="Rectangle: Rounded Corners 54">
            <a:extLst>
              <a:ext uri="{FF2B5EF4-FFF2-40B4-BE49-F238E27FC236}">
                <a16:creationId xmlns:a16="http://schemas.microsoft.com/office/drawing/2014/main" id="{3FEFF403-CC1B-2DDA-5A9E-D4FF3FA8CF49}"/>
              </a:ext>
            </a:extLst>
          </p:cNvPr>
          <p:cNvSpPr/>
          <p:nvPr/>
        </p:nvSpPr>
        <p:spPr>
          <a:xfrm>
            <a:off x="9070045" y="810741"/>
            <a:ext cx="2801510" cy="4100357"/>
          </a:xfrm>
          <a:prstGeom prst="roundRect">
            <a:avLst>
              <a:gd name="adj" fmla="val 441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56" name="Rectangle: Rounded Corners 55">
            <a:extLst>
              <a:ext uri="{FF2B5EF4-FFF2-40B4-BE49-F238E27FC236}">
                <a16:creationId xmlns:a16="http://schemas.microsoft.com/office/drawing/2014/main" id="{2CD0F72C-777F-94B4-95DB-134C84692120}"/>
              </a:ext>
            </a:extLst>
          </p:cNvPr>
          <p:cNvSpPr/>
          <p:nvPr/>
        </p:nvSpPr>
        <p:spPr>
          <a:xfrm>
            <a:off x="9070045" y="2840768"/>
            <a:ext cx="2801510" cy="2732555"/>
          </a:xfrm>
          <a:prstGeom prst="roundRect">
            <a:avLst>
              <a:gd name="adj" fmla="val 441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ysClr val="windowText" lastClr="000000"/>
              </a:solidFill>
            </a:endParaRPr>
          </a:p>
        </p:txBody>
      </p:sp>
      <p:sp>
        <p:nvSpPr>
          <p:cNvPr id="57" name="Rectangle 56">
            <a:extLst>
              <a:ext uri="{FF2B5EF4-FFF2-40B4-BE49-F238E27FC236}">
                <a16:creationId xmlns:a16="http://schemas.microsoft.com/office/drawing/2014/main" id="{C76458EA-36C2-26C2-69ED-1D6F069643C4}"/>
              </a:ext>
            </a:extLst>
          </p:cNvPr>
          <p:cNvSpPr/>
          <p:nvPr/>
        </p:nvSpPr>
        <p:spPr>
          <a:xfrm>
            <a:off x="9070045" y="1950793"/>
            <a:ext cx="2801510" cy="34809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ysClr val="windowText" lastClr="000000"/>
                </a:solidFill>
              </a:rPr>
              <a:t>MAXIMIZE PROFIT MARGIN</a:t>
            </a:r>
          </a:p>
          <a:p>
            <a:pPr algn="ctr"/>
            <a:endParaRPr lang="en-US" sz="1400" b="1" dirty="0">
              <a:solidFill>
                <a:sysClr val="windowText" lastClr="000000"/>
              </a:solidFill>
            </a:endParaRPr>
          </a:p>
          <a:p>
            <a:pPr algn="ctr"/>
            <a:r>
              <a:rPr lang="en-US" sz="1600" dirty="0">
                <a:solidFill>
                  <a:sysClr val="windowText" lastClr="000000"/>
                </a:solidFill>
              </a:rPr>
              <a:t>Analyze product and location-based profitability to improve revenue generation.</a:t>
            </a:r>
          </a:p>
          <a:p>
            <a:pPr algn="ct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Identify high-profit products.</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Evaluate regional profitability.</a:t>
            </a:r>
          </a:p>
          <a:p>
            <a:pPr marL="285750" indent="-285750">
              <a:buFont typeface="Arial" panose="020B0604020202020204" pitchFamily="34" charset="0"/>
              <a:buChar char="•"/>
            </a:pPr>
            <a:endParaRPr lang="en-US" sz="800" dirty="0">
              <a:solidFill>
                <a:sysClr val="windowText" lastClr="000000"/>
              </a:solidFill>
            </a:endParaRPr>
          </a:p>
          <a:p>
            <a:pPr marL="285750" indent="-285750">
              <a:buFont typeface="Arial" panose="020B0604020202020204" pitchFamily="34" charset="0"/>
              <a:buChar char="•"/>
            </a:pPr>
            <a:r>
              <a:rPr lang="en-US" sz="1600" dirty="0">
                <a:solidFill>
                  <a:sysClr val="windowText" lastClr="000000"/>
                </a:solidFill>
              </a:rPr>
              <a:t>Optimize operational efficiency.</a:t>
            </a:r>
            <a:endParaRPr lang="en-IN" sz="1600" dirty="0">
              <a:solidFill>
                <a:sysClr val="windowText" lastClr="000000"/>
              </a:solidFill>
            </a:endParaRPr>
          </a:p>
        </p:txBody>
      </p:sp>
      <p:pic>
        <p:nvPicPr>
          <p:cNvPr id="59" name="Picture 58">
            <a:extLst>
              <a:ext uri="{FF2B5EF4-FFF2-40B4-BE49-F238E27FC236}">
                <a16:creationId xmlns:a16="http://schemas.microsoft.com/office/drawing/2014/main" id="{2A545D6F-A9F9-CFF4-9FA7-EDD7E9338A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3471" y="978865"/>
            <a:ext cx="959162" cy="959162"/>
          </a:xfrm>
          <a:prstGeom prst="rect">
            <a:avLst/>
          </a:prstGeom>
        </p:spPr>
      </p:pic>
      <p:pic>
        <p:nvPicPr>
          <p:cNvPr id="61" name="Picture 60">
            <a:extLst>
              <a:ext uri="{FF2B5EF4-FFF2-40B4-BE49-F238E27FC236}">
                <a16:creationId xmlns:a16="http://schemas.microsoft.com/office/drawing/2014/main" id="{BC94F727-8B2A-1FA8-345D-8607749212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9281" y="1023630"/>
            <a:ext cx="959162" cy="959162"/>
          </a:xfrm>
          <a:prstGeom prst="rect">
            <a:avLst/>
          </a:prstGeom>
        </p:spPr>
      </p:pic>
      <p:pic>
        <p:nvPicPr>
          <p:cNvPr id="65" name="Picture 64">
            <a:extLst>
              <a:ext uri="{FF2B5EF4-FFF2-40B4-BE49-F238E27FC236}">
                <a16:creationId xmlns:a16="http://schemas.microsoft.com/office/drawing/2014/main" id="{E96ED6BB-3D82-4AFD-F7F8-6054475B70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85091" y="991631"/>
            <a:ext cx="959162" cy="959162"/>
          </a:xfrm>
          <a:prstGeom prst="rect">
            <a:avLst/>
          </a:prstGeom>
        </p:spPr>
      </p:pic>
      <p:pic>
        <p:nvPicPr>
          <p:cNvPr id="67" name="Picture 66">
            <a:extLst>
              <a:ext uri="{FF2B5EF4-FFF2-40B4-BE49-F238E27FC236}">
                <a16:creationId xmlns:a16="http://schemas.microsoft.com/office/drawing/2014/main" id="{2F6BF3EF-408B-0404-4418-425907B891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91219" y="966097"/>
            <a:ext cx="959162" cy="959162"/>
          </a:xfrm>
          <a:prstGeom prst="rect">
            <a:avLst/>
          </a:prstGeom>
        </p:spPr>
      </p:pic>
    </p:spTree>
    <p:extLst>
      <p:ext uri="{BB962C8B-B14F-4D97-AF65-F5344CB8AC3E}">
        <p14:creationId xmlns:p14="http://schemas.microsoft.com/office/powerpoint/2010/main" val="462789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D1360-392A-1713-62D4-86791708A062}"/>
            </a:ext>
          </a:extLst>
        </p:cNvPr>
        <p:cNvGrpSpPr/>
        <p:nvPr/>
      </p:nvGrpSpPr>
      <p:grpSpPr>
        <a:xfrm>
          <a:off x="0" y="0"/>
          <a:ext cx="0" cy="0"/>
          <a:chOff x="0" y="0"/>
          <a:chExt cx="0" cy="0"/>
        </a:xfrm>
      </p:grpSpPr>
      <p:sp>
        <p:nvSpPr>
          <p:cNvPr id="9" name="Title 8" hidden="1">
            <a:extLst>
              <a:ext uri="{FF2B5EF4-FFF2-40B4-BE49-F238E27FC236}">
                <a16:creationId xmlns:a16="http://schemas.microsoft.com/office/drawing/2014/main" id="{2E8F28E8-AF22-495D-CCBA-68AA9502B475}"/>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71202BB4-7D6A-17B0-02A1-42215BD25DAB}"/>
              </a:ext>
              <a:ext uri="{C183D7F6-B498-43B3-948B-1728B52AA6E4}">
                <adec:decorative xmlns:adec="http://schemas.microsoft.com/office/drawing/2017/decorative" val="1"/>
              </a:ext>
            </a:extLst>
          </p:cNvPr>
          <p:cNvCxnSpPr>
            <a:cxnSpLocks/>
          </p:cNvCxnSpPr>
          <p:nvPr/>
        </p:nvCxnSpPr>
        <p:spPr>
          <a:xfrm>
            <a:off x="8797491" y="522898"/>
            <a:ext cx="339450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AA79478-39F1-2542-A2D5-0762A1298A70}"/>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Tools and Technologies Used</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D4F0E731-66BC-B5A1-562B-2E5CBDD7DA98}"/>
              </a:ext>
              <a:ext uri="{C183D7F6-B498-43B3-948B-1728B52AA6E4}">
                <adec:decorative xmlns:adec="http://schemas.microsoft.com/office/drawing/2017/decorative" val="1"/>
              </a:ext>
            </a:extLst>
          </p:cNvPr>
          <p:cNvCxnSpPr>
            <a:cxnSpLocks/>
          </p:cNvCxnSpPr>
          <p:nvPr/>
        </p:nvCxnSpPr>
        <p:spPr>
          <a:xfrm>
            <a:off x="0" y="522898"/>
            <a:ext cx="339178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EA11072F-2290-62AF-80E5-C483DC3B7DDB}"/>
              </a:ext>
            </a:extLst>
          </p:cNvPr>
          <p:cNvSpPr/>
          <p:nvPr/>
        </p:nvSpPr>
        <p:spPr>
          <a:xfrm>
            <a:off x="674147" y="1017142"/>
            <a:ext cx="4324574" cy="1970143"/>
          </a:xfrm>
          <a:prstGeom prst="roundRect">
            <a:avLst>
              <a:gd name="adj" fmla="val 4412"/>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ysClr val="windowText" lastClr="000000"/>
                </a:solidFill>
              </a:rPr>
              <a:t>Python</a:t>
            </a:r>
          </a:p>
          <a:p>
            <a:pPr algn="ctr"/>
            <a:endParaRPr lang="en-IN" sz="800" b="1" dirty="0">
              <a:solidFill>
                <a:sysClr val="windowText" lastClr="000000"/>
              </a:solidFill>
            </a:endParaRPr>
          </a:p>
          <a:p>
            <a:pPr algn="ctr"/>
            <a:r>
              <a:rPr lang="en-IN" sz="2000" dirty="0">
                <a:solidFill>
                  <a:sysClr val="windowText" lastClr="000000"/>
                </a:solidFill>
              </a:rPr>
              <a:t>EDA, Data Transformation, Feature Engineering</a:t>
            </a:r>
          </a:p>
        </p:txBody>
      </p:sp>
      <p:sp>
        <p:nvSpPr>
          <p:cNvPr id="17" name="Rectangle: Rounded Corners 16">
            <a:extLst>
              <a:ext uri="{FF2B5EF4-FFF2-40B4-BE49-F238E27FC236}">
                <a16:creationId xmlns:a16="http://schemas.microsoft.com/office/drawing/2014/main" id="{02CF06B4-17BC-2A45-319E-A02EDF657342}"/>
              </a:ext>
            </a:extLst>
          </p:cNvPr>
          <p:cNvSpPr/>
          <p:nvPr/>
        </p:nvSpPr>
        <p:spPr>
          <a:xfrm>
            <a:off x="1434455" y="3870715"/>
            <a:ext cx="4324574" cy="1970143"/>
          </a:xfrm>
          <a:prstGeom prst="roundRect">
            <a:avLst>
              <a:gd name="adj" fmla="val 4412"/>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ysClr val="windowText" lastClr="000000"/>
                </a:solidFill>
              </a:rPr>
              <a:t>Power BI</a:t>
            </a:r>
          </a:p>
          <a:p>
            <a:pPr algn="ctr"/>
            <a:endParaRPr lang="en-IN" sz="800" b="1" dirty="0">
              <a:solidFill>
                <a:sysClr val="windowText" lastClr="000000"/>
              </a:solidFill>
            </a:endParaRPr>
          </a:p>
          <a:p>
            <a:pPr algn="ctr"/>
            <a:r>
              <a:rPr lang="en-IN" sz="2000" dirty="0">
                <a:solidFill>
                  <a:sysClr val="windowText" lastClr="000000"/>
                </a:solidFill>
              </a:rPr>
              <a:t>Data Visualization &amp; Dashboarding which provides real-time insights and help stakeholders make data-driven decision</a:t>
            </a:r>
          </a:p>
        </p:txBody>
      </p:sp>
      <p:sp>
        <p:nvSpPr>
          <p:cNvPr id="18" name="Rectangle: Rounded Corners 17">
            <a:extLst>
              <a:ext uri="{FF2B5EF4-FFF2-40B4-BE49-F238E27FC236}">
                <a16:creationId xmlns:a16="http://schemas.microsoft.com/office/drawing/2014/main" id="{C564D184-0853-59E1-4C9C-7547D9F9B264}"/>
              </a:ext>
            </a:extLst>
          </p:cNvPr>
          <p:cNvSpPr/>
          <p:nvPr/>
        </p:nvSpPr>
        <p:spPr>
          <a:xfrm>
            <a:off x="6341932" y="1458857"/>
            <a:ext cx="4324574" cy="1970143"/>
          </a:xfrm>
          <a:prstGeom prst="roundRect">
            <a:avLst>
              <a:gd name="adj" fmla="val 4412"/>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ysClr val="windowText" lastClr="000000"/>
                </a:solidFill>
              </a:rPr>
              <a:t>SQL</a:t>
            </a:r>
          </a:p>
          <a:p>
            <a:pPr algn="ctr"/>
            <a:endParaRPr lang="en-IN" sz="800" b="1" dirty="0">
              <a:solidFill>
                <a:sysClr val="windowText" lastClr="000000"/>
              </a:solidFill>
            </a:endParaRPr>
          </a:p>
          <a:p>
            <a:pPr algn="ctr"/>
            <a:r>
              <a:rPr lang="en-IN" sz="2000" dirty="0">
                <a:solidFill>
                  <a:sysClr val="windowText" lastClr="000000"/>
                </a:solidFill>
              </a:rPr>
              <a:t>Data Analysis and Querying</a:t>
            </a:r>
          </a:p>
        </p:txBody>
      </p:sp>
      <p:sp>
        <p:nvSpPr>
          <p:cNvPr id="19" name="Rectangle: Rounded Corners 18">
            <a:extLst>
              <a:ext uri="{FF2B5EF4-FFF2-40B4-BE49-F238E27FC236}">
                <a16:creationId xmlns:a16="http://schemas.microsoft.com/office/drawing/2014/main" id="{1FDD9775-63A4-111D-892E-BF3465E29010}"/>
              </a:ext>
            </a:extLst>
          </p:cNvPr>
          <p:cNvSpPr/>
          <p:nvPr/>
        </p:nvSpPr>
        <p:spPr>
          <a:xfrm>
            <a:off x="7148526" y="4543537"/>
            <a:ext cx="4324574" cy="1970143"/>
          </a:xfrm>
          <a:prstGeom prst="roundRect">
            <a:avLst>
              <a:gd name="adj" fmla="val 4412"/>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ysClr val="windowText" lastClr="000000"/>
                </a:solidFill>
              </a:rPr>
              <a:t>Excel/ CSV</a:t>
            </a:r>
          </a:p>
          <a:p>
            <a:pPr algn="ctr"/>
            <a:endParaRPr lang="en-IN" sz="800" dirty="0">
              <a:solidFill>
                <a:sysClr val="windowText" lastClr="000000"/>
              </a:solidFill>
            </a:endParaRPr>
          </a:p>
          <a:p>
            <a:pPr algn="ctr"/>
            <a:r>
              <a:rPr lang="en-IN" sz="2000" dirty="0">
                <a:solidFill>
                  <a:sysClr val="windowText" lastClr="000000"/>
                </a:solidFill>
              </a:rPr>
              <a:t>Raw Data Source that serves as the primary data source for analysis and reporting.</a:t>
            </a:r>
          </a:p>
        </p:txBody>
      </p:sp>
      <p:pic>
        <p:nvPicPr>
          <p:cNvPr id="24" name="Picture 23">
            <a:extLst>
              <a:ext uri="{FF2B5EF4-FFF2-40B4-BE49-F238E27FC236}">
                <a16:creationId xmlns:a16="http://schemas.microsoft.com/office/drawing/2014/main" id="{0CAA176D-32D9-5D9D-7D88-7FF70C90F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603326"/>
            <a:ext cx="1210053" cy="1210053"/>
          </a:xfrm>
          <a:prstGeom prst="ellipse">
            <a:avLst/>
          </a:prstGeom>
        </p:spPr>
      </p:pic>
      <p:pic>
        <p:nvPicPr>
          <p:cNvPr id="26" name="Picture 25">
            <a:extLst>
              <a:ext uri="{FF2B5EF4-FFF2-40B4-BE49-F238E27FC236}">
                <a16:creationId xmlns:a16="http://schemas.microsoft.com/office/drawing/2014/main" id="{5773452D-F178-1367-A6A9-1166DF02C7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0069" y="709747"/>
            <a:ext cx="1269841" cy="1269841"/>
          </a:xfrm>
          <a:prstGeom prst="rect">
            <a:avLst/>
          </a:prstGeom>
        </p:spPr>
      </p:pic>
      <p:pic>
        <p:nvPicPr>
          <p:cNvPr id="28" name="Picture 27">
            <a:extLst>
              <a:ext uri="{FF2B5EF4-FFF2-40B4-BE49-F238E27FC236}">
                <a16:creationId xmlns:a16="http://schemas.microsoft.com/office/drawing/2014/main" id="{1374C5C7-2C46-611D-F849-DBAA32037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564" y="3938238"/>
            <a:ext cx="1269841" cy="1269841"/>
          </a:xfrm>
          <a:prstGeom prst="rect">
            <a:avLst/>
          </a:prstGeom>
        </p:spPr>
      </p:pic>
      <p:pic>
        <p:nvPicPr>
          <p:cNvPr id="30" name="Picture 29">
            <a:extLst>
              <a:ext uri="{FF2B5EF4-FFF2-40B4-BE49-F238E27FC236}">
                <a16:creationId xmlns:a16="http://schemas.microsoft.com/office/drawing/2014/main" id="{DC9C0701-D4D4-AB05-6E5A-9006DD2048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705" y="3319416"/>
            <a:ext cx="1269841" cy="1269841"/>
          </a:xfrm>
          <a:prstGeom prst="rect">
            <a:avLst/>
          </a:prstGeom>
        </p:spPr>
      </p:pic>
    </p:spTree>
    <p:extLst>
      <p:ext uri="{BB962C8B-B14F-4D97-AF65-F5344CB8AC3E}">
        <p14:creationId xmlns:p14="http://schemas.microsoft.com/office/powerpoint/2010/main" val="256241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92B97-95E5-F8D9-CE29-1BC54D0C9730}"/>
            </a:ext>
          </a:extLst>
        </p:cNvPr>
        <p:cNvGrpSpPr/>
        <p:nvPr/>
      </p:nvGrpSpPr>
      <p:grpSpPr>
        <a:xfrm>
          <a:off x="0" y="0"/>
          <a:ext cx="0" cy="0"/>
          <a:chOff x="0" y="0"/>
          <a:chExt cx="0" cy="0"/>
        </a:xfrm>
      </p:grpSpPr>
      <p:sp>
        <p:nvSpPr>
          <p:cNvPr id="9" name="Title 8" hidden="1">
            <a:extLst>
              <a:ext uri="{FF2B5EF4-FFF2-40B4-BE49-F238E27FC236}">
                <a16:creationId xmlns:a16="http://schemas.microsoft.com/office/drawing/2014/main" id="{0D2DBE3A-7394-DB55-6E8E-CEC1749F392D}"/>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3AC494B5-3617-6DD6-64A4-E9CBAB6BEA0F}"/>
              </a:ext>
              <a:ext uri="{C183D7F6-B498-43B3-948B-1728B52AA6E4}">
                <adec:decorative xmlns:adec="http://schemas.microsoft.com/office/drawing/2017/decorative" val="1"/>
              </a:ext>
            </a:extLst>
          </p:cNvPr>
          <p:cNvCxnSpPr>
            <a:cxnSpLocks/>
          </p:cNvCxnSpPr>
          <p:nvPr/>
        </p:nvCxnSpPr>
        <p:spPr>
          <a:xfrm>
            <a:off x="7782560" y="522898"/>
            <a:ext cx="440944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3B83F36-303B-D3B3-37E5-8768740D2A11}"/>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Key Insights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E4B1424-EF60-69F6-4C24-02C7E6BF3969}"/>
              </a:ext>
              <a:ext uri="{C183D7F6-B498-43B3-948B-1728B52AA6E4}">
                <adec:decorative xmlns:adec="http://schemas.microsoft.com/office/drawing/2017/decorative" val="1"/>
              </a:ext>
            </a:extLst>
          </p:cNvPr>
          <p:cNvCxnSpPr>
            <a:cxnSpLocks/>
          </p:cNvCxnSpPr>
          <p:nvPr/>
        </p:nvCxnSpPr>
        <p:spPr>
          <a:xfrm>
            <a:off x="0" y="522898"/>
            <a:ext cx="435864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A49538D0-5BD3-A7BD-1AFC-CC64161493DC}"/>
              </a:ext>
            </a:extLst>
          </p:cNvPr>
          <p:cNvSpPr/>
          <p:nvPr/>
        </p:nvSpPr>
        <p:spPr>
          <a:xfrm>
            <a:off x="187960" y="946737"/>
            <a:ext cx="3802380" cy="2682230"/>
          </a:xfrm>
          <a:prstGeom prst="roundRect">
            <a:avLst>
              <a:gd name="adj" fmla="val 3054"/>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6">
                    <a:lumMod val="50000"/>
                  </a:schemeClr>
                </a:solidFill>
              </a:rPr>
              <a:t>Delivery Delays</a:t>
            </a:r>
          </a:p>
          <a:p>
            <a:pPr algn="ctr"/>
            <a:endParaRPr lang="en-US" sz="800" dirty="0">
              <a:solidFill>
                <a:sysClr val="windowText" lastClr="000000"/>
              </a:solidFill>
            </a:endParaRPr>
          </a:p>
          <a:p>
            <a:pPr algn="ctr"/>
            <a:r>
              <a:rPr lang="en-US" dirty="0">
                <a:solidFill>
                  <a:sysClr val="windowText" lastClr="000000"/>
                </a:solidFill>
              </a:rPr>
              <a:t>Delayed deliveries account for 50.40% of total shipments, indicating significant inefficiencies in the current supply chain and delivery process.</a:t>
            </a:r>
          </a:p>
          <a:p>
            <a:pPr algn="ctr"/>
            <a:endParaRPr lang="en-US" dirty="0">
              <a:solidFill>
                <a:sysClr val="windowText" lastClr="000000"/>
              </a:solidFill>
            </a:endParaRPr>
          </a:p>
          <a:p>
            <a:pPr algn="ctr"/>
            <a:endParaRPr lang="en-US" sz="1600" dirty="0">
              <a:solidFill>
                <a:sysClr val="windowText" lastClr="000000"/>
              </a:solidFill>
            </a:endParaRPr>
          </a:p>
          <a:p>
            <a:pPr algn="ctr"/>
            <a:endParaRPr lang="en-US" sz="1600" dirty="0">
              <a:solidFill>
                <a:sysClr val="windowText" lastClr="000000"/>
              </a:solidFill>
            </a:endParaRPr>
          </a:p>
          <a:p>
            <a:pPr algn="ctr"/>
            <a:endParaRPr lang="en-US" sz="1600" dirty="0">
              <a:solidFill>
                <a:sysClr val="windowText" lastClr="000000"/>
              </a:solidFill>
            </a:endParaRPr>
          </a:p>
        </p:txBody>
      </p:sp>
      <p:sp>
        <p:nvSpPr>
          <p:cNvPr id="2" name="Rectangle: Rounded Corners 1">
            <a:extLst>
              <a:ext uri="{FF2B5EF4-FFF2-40B4-BE49-F238E27FC236}">
                <a16:creationId xmlns:a16="http://schemas.microsoft.com/office/drawing/2014/main" id="{553BC0A6-C5EA-3ED3-A512-FFBB829242AA}"/>
              </a:ext>
            </a:extLst>
          </p:cNvPr>
          <p:cNvSpPr/>
          <p:nvPr/>
        </p:nvSpPr>
        <p:spPr>
          <a:xfrm>
            <a:off x="193040" y="2753361"/>
            <a:ext cx="3797300" cy="875606"/>
          </a:xfrm>
          <a:prstGeom prst="roundRect">
            <a:avLst>
              <a:gd name="adj" fmla="val 10186"/>
            </a:avLst>
          </a:prstGeom>
          <a:solidFill>
            <a:schemeClr val="accent6">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a:p>
            <a:pPr algn="ctr"/>
            <a:r>
              <a:rPr lang="en-US" b="1" dirty="0">
                <a:solidFill>
                  <a:schemeClr val="bg1"/>
                </a:solidFill>
              </a:rPr>
              <a:t>Insight:</a:t>
            </a:r>
            <a:r>
              <a:rPr lang="en-US" dirty="0">
                <a:solidFill>
                  <a:schemeClr val="bg1"/>
                </a:solidFill>
              </a:rPr>
              <a:t> Atlanta region warehouses show the highest delays</a:t>
            </a:r>
            <a:endParaRPr lang="en-IN" dirty="0">
              <a:solidFill>
                <a:schemeClr val="bg1"/>
              </a:solidFill>
            </a:endParaRPr>
          </a:p>
          <a:p>
            <a:pPr algn="ctr"/>
            <a:endParaRPr lang="en-IN" dirty="0">
              <a:solidFill>
                <a:schemeClr val="bg1"/>
              </a:solidFill>
            </a:endParaRPr>
          </a:p>
        </p:txBody>
      </p:sp>
      <p:sp>
        <p:nvSpPr>
          <p:cNvPr id="6" name="Rectangle: Rounded Corners 5">
            <a:extLst>
              <a:ext uri="{FF2B5EF4-FFF2-40B4-BE49-F238E27FC236}">
                <a16:creationId xmlns:a16="http://schemas.microsoft.com/office/drawing/2014/main" id="{D0A53C99-35C3-12B1-9E0C-E25444D8B002}"/>
              </a:ext>
            </a:extLst>
          </p:cNvPr>
          <p:cNvSpPr/>
          <p:nvPr/>
        </p:nvSpPr>
        <p:spPr>
          <a:xfrm>
            <a:off x="4112260" y="3749040"/>
            <a:ext cx="3886200" cy="2682240"/>
          </a:xfrm>
          <a:prstGeom prst="roundRect">
            <a:avLst>
              <a:gd name="adj" fmla="val 3054"/>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lumMod val="50000"/>
                  </a:schemeClr>
                </a:solidFill>
              </a:rPr>
              <a:t>Demand Patterns</a:t>
            </a:r>
          </a:p>
          <a:p>
            <a:pPr algn="ctr"/>
            <a:endParaRPr lang="en-US" sz="800" b="1" dirty="0">
              <a:solidFill>
                <a:sysClr val="windowText" lastClr="000000"/>
              </a:solidFill>
            </a:endParaRPr>
          </a:p>
          <a:p>
            <a:pPr algn="ctr"/>
            <a:r>
              <a:rPr lang="en-US" dirty="0">
                <a:solidFill>
                  <a:sysClr val="windowText" lastClr="000000"/>
                </a:solidFill>
              </a:rPr>
              <a:t>Demand varied significantly across products and regions for the given month.</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7" name="Rectangle: Rounded Corners 6">
            <a:extLst>
              <a:ext uri="{FF2B5EF4-FFF2-40B4-BE49-F238E27FC236}">
                <a16:creationId xmlns:a16="http://schemas.microsoft.com/office/drawing/2014/main" id="{6B5C1AB1-E7B2-94A3-A9A3-39881B8D38EA}"/>
              </a:ext>
            </a:extLst>
          </p:cNvPr>
          <p:cNvSpPr/>
          <p:nvPr/>
        </p:nvSpPr>
        <p:spPr>
          <a:xfrm>
            <a:off x="187960" y="3749040"/>
            <a:ext cx="3802380" cy="2682240"/>
          </a:xfrm>
          <a:prstGeom prst="roundRect">
            <a:avLst>
              <a:gd name="adj" fmla="val 3054"/>
            </a:avLst>
          </a:prstGeom>
          <a:solidFill>
            <a:srgbClr val="FDF8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6A202"/>
                </a:solidFill>
              </a:rPr>
              <a:t>Profitability</a:t>
            </a:r>
          </a:p>
          <a:p>
            <a:pPr algn="ctr"/>
            <a:endParaRPr lang="en-US" sz="800" dirty="0">
              <a:solidFill>
                <a:sysClr val="windowText" lastClr="000000"/>
              </a:solidFill>
            </a:endParaRPr>
          </a:p>
          <a:p>
            <a:pPr algn="ctr"/>
            <a:r>
              <a:rPr lang="en-US" sz="2000" dirty="0">
                <a:solidFill>
                  <a:sysClr val="windowText" lastClr="000000"/>
                </a:solidFill>
              </a:rPr>
              <a:t>Profitability varies as product and region.</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0" name="Rectangle: Rounded Corners 9">
            <a:extLst>
              <a:ext uri="{FF2B5EF4-FFF2-40B4-BE49-F238E27FC236}">
                <a16:creationId xmlns:a16="http://schemas.microsoft.com/office/drawing/2014/main" id="{6CD7B11C-4FF6-9FAC-7BF4-C8C23886203D}"/>
              </a:ext>
            </a:extLst>
          </p:cNvPr>
          <p:cNvSpPr/>
          <p:nvPr/>
        </p:nvSpPr>
        <p:spPr>
          <a:xfrm>
            <a:off x="8120380" y="946738"/>
            <a:ext cx="3886200" cy="2682239"/>
          </a:xfrm>
          <a:prstGeom prst="roundRect">
            <a:avLst>
              <a:gd name="adj" fmla="val 3054"/>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Warehouse Performance</a:t>
            </a:r>
          </a:p>
          <a:p>
            <a:pPr algn="ctr"/>
            <a:endParaRPr lang="en-US" sz="800" dirty="0">
              <a:solidFill>
                <a:sysClr val="windowText" lastClr="000000"/>
              </a:solidFill>
            </a:endParaRPr>
          </a:p>
          <a:p>
            <a:pPr algn="ctr"/>
            <a:r>
              <a:rPr lang="en-US" dirty="0">
                <a:solidFill>
                  <a:sysClr val="windowText" lastClr="000000"/>
                </a:solidFill>
              </a:rPr>
              <a:t>Certain warehouses showed low sales performance along with excess inventory levels.</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2" name="Rectangle: Rounded Corners 11">
            <a:extLst>
              <a:ext uri="{FF2B5EF4-FFF2-40B4-BE49-F238E27FC236}">
                <a16:creationId xmlns:a16="http://schemas.microsoft.com/office/drawing/2014/main" id="{808503C8-0AC1-8345-B626-0098D346EEB2}"/>
              </a:ext>
            </a:extLst>
          </p:cNvPr>
          <p:cNvSpPr/>
          <p:nvPr/>
        </p:nvSpPr>
        <p:spPr>
          <a:xfrm>
            <a:off x="8120380" y="3749040"/>
            <a:ext cx="3886200" cy="2682240"/>
          </a:xfrm>
          <a:prstGeom prst="roundRect">
            <a:avLst>
              <a:gd name="adj" fmla="val 3054"/>
            </a:avLst>
          </a:prstGeom>
          <a:solidFill>
            <a:srgbClr val="DCE3F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lumMod val="50000"/>
                  </a:schemeClr>
                </a:solidFill>
              </a:rPr>
              <a:t>Customer Satisfaction</a:t>
            </a:r>
          </a:p>
          <a:p>
            <a:pPr algn="ctr"/>
            <a:endParaRPr lang="en-US" dirty="0">
              <a:solidFill>
                <a:sysClr val="windowText" lastClr="000000"/>
              </a:solidFill>
            </a:endParaRPr>
          </a:p>
          <a:p>
            <a:pPr algn="ctr"/>
            <a:r>
              <a:rPr lang="en-US" dirty="0">
                <a:solidFill>
                  <a:sysClr val="windowText" lastClr="000000"/>
                </a:solidFill>
              </a:rPr>
              <a:t>Delays in stock unavailability are the top reason for low customer satisfaction.</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3" name="Rectangle: Rounded Corners 12">
            <a:extLst>
              <a:ext uri="{FF2B5EF4-FFF2-40B4-BE49-F238E27FC236}">
                <a16:creationId xmlns:a16="http://schemas.microsoft.com/office/drawing/2014/main" id="{93F61D3A-A5F3-67BF-0535-382475516FF2}"/>
              </a:ext>
            </a:extLst>
          </p:cNvPr>
          <p:cNvSpPr/>
          <p:nvPr/>
        </p:nvSpPr>
        <p:spPr>
          <a:xfrm>
            <a:off x="4112260" y="946737"/>
            <a:ext cx="3886200" cy="2682240"/>
          </a:xfrm>
          <a:prstGeom prst="roundRect">
            <a:avLst>
              <a:gd name="adj" fmla="val 3054"/>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lumMod val="50000"/>
                  </a:schemeClr>
                </a:solidFill>
              </a:rPr>
              <a:t>Inventory Imbalance</a:t>
            </a:r>
          </a:p>
          <a:p>
            <a:pPr algn="ctr"/>
            <a:endParaRPr lang="en-US" sz="800" b="1" dirty="0">
              <a:solidFill>
                <a:schemeClr val="tx1"/>
              </a:solidFill>
            </a:endParaRPr>
          </a:p>
          <a:p>
            <a:pPr algn="ctr"/>
            <a:r>
              <a:rPr lang="en-US" dirty="0">
                <a:solidFill>
                  <a:sysClr val="windowText" lastClr="000000"/>
                </a:solidFill>
              </a:rPr>
              <a:t>Some warehouses had excess inventory while others frequently faced stock shortages. </a:t>
            </a:r>
          </a:p>
          <a:p>
            <a:pPr algn="ctr"/>
            <a:endParaRPr lang="en-US" sz="16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a:p>
            <a:pPr algn="ctr"/>
            <a:endParaRPr lang="en-IN" sz="1200" dirty="0">
              <a:solidFill>
                <a:schemeClr val="tx1"/>
              </a:solidFill>
            </a:endParaRPr>
          </a:p>
        </p:txBody>
      </p:sp>
      <p:sp>
        <p:nvSpPr>
          <p:cNvPr id="5" name="Rectangle: Rounded Corners 4">
            <a:extLst>
              <a:ext uri="{FF2B5EF4-FFF2-40B4-BE49-F238E27FC236}">
                <a16:creationId xmlns:a16="http://schemas.microsoft.com/office/drawing/2014/main" id="{A637B293-14D2-8DC3-4C54-26DEE96C9CCE}"/>
              </a:ext>
            </a:extLst>
          </p:cNvPr>
          <p:cNvSpPr/>
          <p:nvPr/>
        </p:nvSpPr>
        <p:spPr>
          <a:xfrm>
            <a:off x="4112260" y="2367280"/>
            <a:ext cx="3886200" cy="1261687"/>
          </a:xfrm>
          <a:prstGeom prst="roundRect">
            <a:avLst>
              <a:gd name="adj" fmla="val 6345"/>
            </a:avLst>
          </a:prstGeom>
          <a:solidFill>
            <a:schemeClr val="accent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Insight:</a:t>
            </a:r>
            <a:r>
              <a:rPr lang="en-US" dirty="0">
                <a:solidFill>
                  <a:schemeClr val="bg1"/>
                </a:solidFill>
              </a:rPr>
              <a:t> Out of 1.36M total stock, 45.39% of the total stock is excess inventory, causing inventory imbalance and higher storage costs.</a:t>
            </a:r>
          </a:p>
        </p:txBody>
      </p:sp>
      <p:sp>
        <p:nvSpPr>
          <p:cNvPr id="15" name="Rectangle: Rounded Corners 14">
            <a:extLst>
              <a:ext uri="{FF2B5EF4-FFF2-40B4-BE49-F238E27FC236}">
                <a16:creationId xmlns:a16="http://schemas.microsoft.com/office/drawing/2014/main" id="{976AF9BB-471B-715C-D343-839A7CA61A42}"/>
              </a:ext>
            </a:extLst>
          </p:cNvPr>
          <p:cNvSpPr/>
          <p:nvPr/>
        </p:nvSpPr>
        <p:spPr>
          <a:xfrm>
            <a:off x="8120380" y="2458720"/>
            <a:ext cx="3886200" cy="1170247"/>
          </a:xfrm>
          <a:prstGeom prst="roundRect">
            <a:avLst>
              <a:gd name="adj" fmla="val 6713"/>
            </a:avLst>
          </a:prstGeom>
          <a:solidFill>
            <a:schemeClr val="tx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Insight:</a:t>
            </a:r>
            <a:r>
              <a:rPr lang="en-US" dirty="0">
                <a:solidFill>
                  <a:schemeClr val="bg1"/>
                </a:solidFill>
              </a:rPr>
              <a:t> Indicates the need for better demand forecasting, stock redistribution, and operational optimization.</a:t>
            </a:r>
          </a:p>
        </p:txBody>
      </p:sp>
      <p:sp>
        <p:nvSpPr>
          <p:cNvPr id="16" name="Rectangle: Rounded Corners 15">
            <a:extLst>
              <a:ext uri="{FF2B5EF4-FFF2-40B4-BE49-F238E27FC236}">
                <a16:creationId xmlns:a16="http://schemas.microsoft.com/office/drawing/2014/main" id="{976DBEFF-FB0B-A130-A4A6-379643170617}"/>
              </a:ext>
            </a:extLst>
          </p:cNvPr>
          <p:cNvSpPr/>
          <p:nvPr/>
        </p:nvSpPr>
        <p:spPr>
          <a:xfrm>
            <a:off x="195580" y="5555674"/>
            <a:ext cx="3797300" cy="875606"/>
          </a:xfrm>
          <a:prstGeom prst="roundRect">
            <a:avLst>
              <a:gd name="adj" fmla="val 10186"/>
            </a:avLst>
          </a:prstGeom>
          <a:solidFill>
            <a:srgbClr val="A6A20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Insight:</a:t>
            </a:r>
            <a:r>
              <a:rPr lang="en-US" dirty="0">
                <a:solidFill>
                  <a:schemeClr val="bg1"/>
                </a:solidFill>
              </a:rPr>
              <a:t> Focus on high-margin products and high-performing regions.</a:t>
            </a:r>
            <a:endParaRPr lang="en-IN" dirty="0">
              <a:solidFill>
                <a:schemeClr val="bg1"/>
              </a:solidFill>
            </a:endParaRPr>
          </a:p>
        </p:txBody>
      </p:sp>
      <p:sp>
        <p:nvSpPr>
          <p:cNvPr id="17" name="Rectangle: Rounded Corners 16">
            <a:extLst>
              <a:ext uri="{FF2B5EF4-FFF2-40B4-BE49-F238E27FC236}">
                <a16:creationId xmlns:a16="http://schemas.microsoft.com/office/drawing/2014/main" id="{B08125CE-A823-890A-42E1-100CBD20B826}"/>
              </a:ext>
            </a:extLst>
          </p:cNvPr>
          <p:cNvSpPr/>
          <p:nvPr/>
        </p:nvSpPr>
        <p:spPr>
          <a:xfrm>
            <a:off x="4112260" y="5262880"/>
            <a:ext cx="3886200" cy="1168400"/>
          </a:xfrm>
          <a:prstGeom prst="roundRect">
            <a:avLst>
              <a:gd name="adj" fmla="val 7577"/>
            </a:avLst>
          </a:prstGeom>
          <a:solidFill>
            <a:schemeClr val="accent4">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Insight:</a:t>
            </a:r>
            <a:r>
              <a:rPr lang="en-US" dirty="0">
                <a:solidFill>
                  <a:schemeClr val="bg1"/>
                </a:solidFill>
              </a:rPr>
              <a:t> Apparel category recorded the highest sales and demand, indicating strong customer preference and revenue contribution.</a:t>
            </a:r>
          </a:p>
        </p:txBody>
      </p:sp>
      <p:sp>
        <p:nvSpPr>
          <p:cNvPr id="18" name="Rectangle: Rounded Corners 17">
            <a:extLst>
              <a:ext uri="{FF2B5EF4-FFF2-40B4-BE49-F238E27FC236}">
                <a16:creationId xmlns:a16="http://schemas.microsoft.com/office/drawing/2014/main" id="{EE6FEFB5-08F5-D3BE-6DD1-9D84D6208DFF}"/>
              </a:ext>
            </a:extLst>
          </p:cNvPr>
          <p:cNvSpPr/>
          <p:nvPr/>
        </p:nvSpPr>
        <p:spPr>
          <a:xfrm>
            <a:off x="8121650" y="5555679"/>
            <a:ext cx="3883660" cy="875601"/>
          </a:xfrm>
          <a:prstGeom prst="roundRect">
            <a:avLst>
              <a:gd name="adj" fmla="val 10186"/>
            </a:avLst>
          </a:prstGeom>
          <a:solidFill>
            <a:schemeClr val="accent5">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Insight:</a:t>
            </a:r>
            <a:r>
              <a:rPr lang="en-US" dirty="0">
                <a:solidFill>
                  <a:schemeClr val="bg1"/>
                </a:solidFill>
              </a:rPr>
              <a:t> Improve inventory availability and delivery reliability.</a:t>
            </a:r>
            <a:endParaRPr lang="en-IN" dirty="0">
              <a:solidFill>
                <a:schemeClr val="bg1"/>
              </a:solidFill>
            </a:endParaRPr>
          </a:p>
        </p:txBody>
      </p:sp>
    </p:spTree>
    <p:extLst>
      <p:ext uri="{BB962C8B-B14F-4D97-AF65-F5344CB8AC3E}">
        <p14:creationId xmlns:p14="http://schemas.microsoft.com/office/powerpoint/2010/main" val="347511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333BE-6864-77BC-8BF2-0E19CCAD313A}"/>
            </a:ext>
          </a:extLst>
        </p:cNvPr>
        <p:cNvGrpSpPr/>
        <p:nvPr/>
      </p:nvGrpSpPr>
      <p:grpSpPr>
        <a:xfrm>
          <a:off x="0" y="0"/>
          <a:ext cx="0" cy="0"/>
          <a:chOff x="0" y="0"/>
          <a:chExt cx="0" cy="0"/>
        </a:xfrm>
      </p:grpSpPr>
      <p:sp>
        <p:nvSpPr>
          <p:cNvPr id="9" name="Title 8" hidden="1">
            <a:extLst>
              <a:ext uri="{FF2B5EF4-FFF2-40B4-BE49-F238E27FC236}">
                <a16:creationId xmlns:a16="http://schemas.microsoft.com/office/drawing/2014/main" id="{BB18A20A-5353-B9BD-AB87-A92669CBE0C6}"/>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D3DF0A32-3E0A-0B2D-B9C2-342F1E13F3AE}"/>
              </a:ext>
              <a:ext uri="{C183D7F6-B498-43B3-948B-1728B52AA6E4}">
                <adec:decorative xmlns:adec="http://schemas.microsoft.com/office/drawing/2017/decorative" val="1"/>
              </a:ext>
            </a:extLst>
          </p:cNvPr>
          <p:cNvCxnSpPr>
            <a:cxnSpLocks/>
          </p:cNvCxnSpPr>
          <p:nvPr/>
        </p:nvCxnSpPr>
        <p:spPr>
          <a:xfrm>
            <a:off x="7782560" y="522898"/>
            <a:ext cx="440944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28B8BC1-2885-8F06-989E-215311445F36}"/>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Business Impact</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3EF839B7-C5C3-72BF-413E-13F4EFF2612B}"/>
              </a:ext>
              <a:ext uri="{C183D7F6-B498-43B3-948B-1728B52AA6E4}">
                <adec:decorative xmlns:adec="http://schemas.microsoft.com/office/drawing/2017/decorative" val="1"/>
              </a:ext>
            </a:extLst>
          </p:cNvPr>
          <p:cNvCxnSpPr>
            <a:cxnSpLocks/>
          </p:cNvCxnSpPr>
          <p:nvPr/>
        </p:nvCxnSpPr>
        <p:spPr>
          <a:xfrm>
            <a:off x="0" y="522898"/>
            <a:ext cx="435864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13B05524-F3C8-5739-2F69-BE68ED9A5784}"/>
              </a:ext>
            </a:extLst>
          </p:cNvPr>
          <p:cNvSpPr/>
          <p:nvPr/>
        </p:nvSpPr>
        <p:spPr>
          <a:xfrm>
            <a:off x="187960" y="946737"/>
            <a:ext cx="3802380" cy="2682230"/>
          </a:xfrm>
          <a:prstGeom prst="roundRect">
            <a:avLst>
              <a:gd name="adj" fmla="val 3054"/>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lumMod val="50000"/>
                  </a:schemeClr>
                </a:solidFill>
              </a:rPr>
              <a:t>Improved Delivery Performance</a:t>
            </a:r>
          </a:p>
          <a:p>
            <a:pPr algn="ctr"/>
            <a:endParaRPr lang="en-US" sz="1600" dirty="0">
              <a:solidFill>
                <a:sysClr val="windowText" lastClr="000000"/>
              </a:solidFill>
            </a:endParaRPr>
          </a:p>
          <a:p>
            <a:pPr algn="ctr"/>
            <a:r>
              <a:rPr lang="en-US" sz="1600" dirty="0">
                <a:solidFill>
                  <a:sysClr val="windowText" lastClr="000000"/>
                </a:solidFill>
              </a:rPr>
              <a:t>Identified delivery delay bottlenecks and delay-prone warehouses, then optimized delivery routes to improve operational efficiency and reduce delays.</a:t>
            </a:r>
          </a:p>
          <a:p>
            <a:pPr algn="ctr"/>
            <a:endParaRPr lang="en-US" sz="1600" dirty="0">
              <a:solidFill>
                <a:sysClr val="windowText" lastClr="000000"/>
              </a:solidFill>
            </a:endParaRPr>
          </a:p>
          <a:p>
            <a:pPr algn="ctr"/>
            <a:endParaRPr lang="en-US" sz="1600" dirty="0">
              <a:solidFill>
                <a:sysClr val="windowText" lastClr="000000"/>
              </a:solidFill>
            </a:endParaRPr>
          </a:p>
          <a:p>
            <a:pPr algn="ctr"/>
            <a:endParaRPr lang="en-US" sz="1600" dirty="0">
              <a:solidFill>
                <a:sysClr val="windowText" lastClr="000000"/>
              </a:solidFill>
            </a:endParaRPr>
          </a:p>
          <a:p>
            <a:pPr algn="ctr"/>
            <a:endParaRPr lang="en-US" sz="1600" dirty="0">
              <a:solidFill>
                <a:sysClr val="windowText" lastClr="000000"/>
              </a:solidFill>
            </a:endParaRPr>
          </a:p>
        </p:txBody>
      </p:sp>
      <p:sp>
        <p:nvSpPr>
          <p:cNvPr id="2" name="Rectangle: Rounded Corners 1">
            <a:extLst>
              <a:ext uri="{FF2B5EF4-FFF2-40B4-BE49-F238E27FC236}">
                <a16:creationId xmlns:a16="http://schemas.microsoft.com/office/drawing/2014/main" id="{DAE38339-1831-63A1-2ADE-438035F6BBAB}"/>
              </a:ext>
            </a:extLst>
          </p:cNvPr>
          <p:cNvSpPr/>
          <p:nvPr/>
        </p:nvSpPr>
        <p:spPr>
          <a:xfrm>
            <a:off x="193040" y="2753361"/>
            <a:ext cx="3797300" cy="875606"/>
          </a:xfrm>
          <a:prstGeom prst="roundRect">
            <a:avLst>
              <a:gd name="adj" fmla="val 10186"/>
            </a:avLst>
          </a:prstGeom>
          <a:solidFill>
            <a:schemeClr val="accent6">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a:p>
            <a:pPr algn="ctr"/>
            <a:r>
              <a:rPr lang="en-US" b="1" dirty="0">
                <a:solidFill>
                  <a:schemeClr val="bg1"/>
                </a:solidFill>
              </a:rPr>
              <a:t>Impact:</a:t>
            </a:r>
            <a:r>
              <a:rPr lang="en-US" dirty="0">
                <a:solidFill>
                  <a:schemeClr val="bg1"/>
                </a:solidFill>
              </a:rPr>
              <a:t> Increased on time delivery rate by 15%, leading to higher customer satisfaction</a:t>
            </a:r>
            <a:endParaRPr lang="en-IN" dirty="0">
              <a:solidFill>
                <a:schemeClr val="bg1"/>
              </a:solidFill>
            </a:endParaRPr>
          </a:p>
          <a:p>
            <a:pPr algn="ctr"/>
            <a:endParaRPr lang="en-IN" dirty="0">
              <a:solidFill>
                <a:schemeClr val="bg1"/>
              </a:solidFill>
            </a:endParaRPr>
          </a:p>
        </p:txBody>
      </p:sp>
      <p:sp>
        <p:nvSpPr>
          <p:cNvPr id="6" name="Rectangle: Rounded Corners 5">
            <a:extLst>
              <a:ext uri="{FF2B5EF4-FFF2-40B4-BE49-F238E27FC236}">
                <a16:creationId xmlns:a16="http://schemas.microsoft.com/office/drawing/2014/main" id="{F2934271-152C-E216-F46C-A60A2B2F4DCD}"/>
              </a:ext>
            </a:extLst>
          </p:cNvPr>
          <p:cNvSpPr/>
          <p:nvPr/>
        </p:nvSpPr>
        <p:spPr>
          <a:xfrm>
            <a:off x="4112260" y="3749040"/>
            <a:ext cx="3886200" cy="2682240"/>
          </a:xfrm>
          <a:prstGeom prst="roundRect">
            <a:avLst>
              <a:gd name="adj" fmla="val 3054"/>
            </a:avLst>
          </a:prstGeom>
          <a:solidFill>
            <a:schemeClr val="accent4">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4">
                    <a:lumMod val="50000"/>
                  </a:schemeClr>
                </a:solidFill>
              </a:rPr>
              <a:t>Better Demand Forecasting</a:t>
            </a:r>
          </a:p>
          <a:p>
            <a:pPr algn="ctr"/>
            <a:endParaRPr lang="en-US" b="1" dirty="0">
              <a:solidFill>
                <a:sysClr val="windowText" lastClr="000000"/>
              </a:solidFill>
            </a:endParaRPr>
          </a:p>
          <a:p>
            <a:pPr algn="ctr"/>
            <a:r>
              <a:rPr lang="en-US" dirty="0">
                <a:solidFill>
                  <a:sysClr val="windowText" lastClr="000000"/>
                </a:solidFill>
              </a:rPr>
              <a:t>Improved demand prediction using trends and enabled proactive planning and better allocation of resources.</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7" name="Rectangle: Rounded Corners 6">
            <a:extLst>
              <a:ext uri="{FF2B5EF4-FFF2-40B4-BE49-F238E27FC236}">
                <a16:creationId xmlns:a16="http://schemas.microsoft.com/office/drawing/2014/main" id="{99040120-B0B3-B982-7624-BD6F4C8C419C}"/>
              </a:ext>
            </a:extLst>
          </p:cNvPr>
          <p:cNvSpPr/>
          <p:nvPr/>
        </p:nvSpPr>
        <p:spPr>
          <a:xfrm>
            <a:off x="187960" y="3749040"/>
            <a:ext cx="3802380" cy="2682240"/>
          </a:xfrm>
          <a:prstGeom prst="roundRect">
            <a:avLst>
              <a:gd name="adj" fmla="val 3054"/>
            </a:avLst>
          </a:prstGeom>
          <a:solidFill>
            <a:srgbClr val="FDF8C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A6A202"/>
                </a:solidFill>
              </a:rPr>
              <a:t>Increased Profitability</a:t>
            </a:r>
          </a:p>
          <a:p>
            <a:pPr algn="ctr"/>
            <a:endParaRPr lang="en-US" dirty="0">
              <a:solidFill>
                <a:sysClr val="windowText" lastClr="000000"/>
              </a:solidFill>
            </a:endParaRPr>
          </a:p>
          <a:p>
            <a:pPr algn="ctr"/>
            <a:r>
              <a:rPr lang="en-US" dirty="0">
                <a:solidFill>
                  <a:sysClr val="windowText" lastClr="000000"/>
                </a:solidFill>
              </a:rPr>
              <a:t>Identified high-profit product and warehouses, focusing on profitable areas and optimizing operations.</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0" name="Rectangle: Rounded Corners 9">
            <a:extLst>
              <a:ext uri="{FF2B5EF4-FFF2-40B4-BE49-F238E27FC236}">
                <a16:creationId xmlns:a16="http://schemas.microsoft.com/office/drawing/2014/main" id="{D9576B3C-FE5E-B3D4-A76D-91326F71CF7D}"/>
              </a:ext>
            </a:extLst>
          </p:cNvPr>
          <p:cNvSpPr/>
          <p:nvPr/>
        </p:nvSpPr>
        <p:spPr>
          <a:xfrm>
            <a:off x="8120380" y="946738"/>
            <a:ext cx="3886200" cy="2682239"/>
          </a:xfrm>
          <a:prstGeom prst="roundRect">
            <a:avLst>
              <a:gd name="adj" fmla="val 3054"/>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Cost Reduction</a:t>
            </a:r>
          </a:p>
          <a:p>
            <a:pPr algn="ctr"/>
            <a:endParaRPr lang="en-US" dirty="0">
              <a:solidFill>
                <a:sysClr val="windowText" lastClr="000000"/>
              </a:solidFill>
            </a:endParaRPr>
          </a:p>
          <a:p>
            <a:pPr algn="ctr"/>
            <a:r>
              <a:rPr lang="en-US" dirty="0">
                <a:solidFill>
                  <a:sysClr val="windowText" lastClr="000000"/>
                </a:solidFill>
              </a:rPr>
              <a:t>Implemented a cost optimization strategy by reducing operational expenses through efficient workforce and resource allocation.</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2" name="Rectangle: Rounded Corners 11">
            <a:extLst>
              <a:ext uri="{FF2B5EF4-FFF2-40B4-BE49-F238E27FC236}">
                <a16:creationId xmlns:a16="http://schemas.microsoft.com/office/drawing/2014/main" id="{D8079C3B-135A-E5B7-E39F-2685200AC218}"/>
              </a:ext>
            </a:extLst>
          </p:cNvPr>
          <p:cNvSpPr/>
          <p:nvPr/>
        </p:nvSpPr>
        <p:spPr>
          <a:xfrm>
            <a:off x="8120380" y="3749040"/>
            <a:ext cx="3886200" cy="2682240"/>
          </a:xfrm>
          <a:prstGeom prst="roundRect">
            <a:avLst>
              <a:gd name="adj" fmla="val 3054"/>
            </a:avLst>
          </a:prstGeom>
          <a:solidFill>
            <a:srgbClr val="DCE3F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5">
                    <a:lumMod val="50000"/>
                  </a:schemeClr>
                </a:solidFill>
              </a:rPr>
              <a:t>Enhanced Customer Satisfaction</a:t>
            </a:r>
          </a:p>
          <a:p>
            <a:pPr algn="ctr"/>
            <a:endParaRPr lang="en-US" sz="2000" dirty="0">
              <a:solidFill>
                <a:sysClr val="windowText" lastClr="000000"/>
              </a:solidFill>
            </a:endParaRPr>
          </a:p>
          <a:p>
            <a:pPr algn="ctr"/>
            <a:r>
              <a:rPr lang="en-US" sz="2000" dirty="0">
                <a:solidFill>
                  <a:sysClr val="windowText" lastClr="000000"/>
                </a:solidFill>
              </a:rPr>
              <a:t>Faster deliveries and better product availability</a:t>
            </a: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a:p>
            <a:pPr algn="ctr"/>
            <a:endParaRPr lang="en-US" dirty="0">
              <a:solidFill>
                <a:sysClr val="windowText" lastClr="000000"/>
              </a:solidFill>
            </a:endParaRPr>
          </a:p>
        </p:txBody>
      </p:sp>
      <p:sp>
        <p:nvSpPr>
          <p:cNvPr id="13" name="Rectangle: Rounded Corners 12">
            <a:extLst>
              <a:ext uri="{FF2B5EF4-FFF2-40B4-BE49-F238E27FC236}">
                <a16:creationId xmlns:a16="http://schemas.microsoft.com/office/drawing/2014/main" id="{F0849CD4-5826-72BB-B139-7EBF417A62A3}"/>
              </a:ext>
            </a:extLst>
          </p:cNvPr>
          <p:cNvSpPr/>
          <p:nvPr/>
        </p:nvSpPr>
        <p:spPr>
          <a:xfrm>
            <a:off x="4112260" y="946737"/>
            <a:ext cx="3886200" cy="2682240"/>
          </a:xfrm>
          <a:prstGeom prst="roundRect">
            <a:avLst>
              <a:gd name="adj" fmla="val 3054"/>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2">
                    <a:lumMod val="50000"/>
                  </a:schemeClr>
                </a:solidFill>
              </a:rPr>
              <a:t>Optimized Inventory Management</a:t>
            </a:r>
          </a:p>
          <a:p>
            <a:pPr algn="ctr"/>
            <a:endParaRPr lang="en-US" sz="1600" b="1" dirty="0">
              <a:solidFill>
                <a:schemeClr val="tx1"/>
              </a:solidFill>
            </a:endParaRPr>
          </a:p>
          <a:p>
            <a:pPr algn="ctr"/>
            <a:r>
              <a:rPr lang="en-US" dirty="0">
                <a:solidFill>
                  <a:schemeClr val="tx1"/>
                </a:solidFill>
              </a:rPr>
              <a:t>Optimized inventory management by balancing stock across warehouses using demand forecasting with a 20% safety buffer.</a:t>
            </a:r>
          </a:p>
          <a:p>
            <a:pPr algn="ctr"/>
            <a:endParaRPr lang="en-US" sz="1600" dirty="0">
              <a:solidFill>
                <a:schemeClr val="tx1"/>
              </a:solidFill>
            </a:endParaRPr>
          </a:p>
          <a:p>
            <a:pPr algn="ctr"/>
            <a:endParaRPr lang="en-US" sz="1200" dirty="0">
              <a:solidFill>
                <a:schemeClr val="tx1"/>
              </a:solidFill>
            </a:endParaRPr>
          </a:p>
          <a:p>
            <a:pPr algn="ctr"/>
            <a:endParaRPr lang="en-US" sz="1200" dirty="0">
              <a:solidFill>
                <a:schemeClr val="tx1"/>
              </a:solidFill>
            </a:endParaRPr>
          </a:p>
          <a:p>
            <a:pPr algn="ctr"/>
            <a:endParaRPr lang="en-IN" sz="1200" dirty="0">
              <a:solidFill>
                <a:schemeClr val="tx1"/>
              </a:solidFill>
            </a:endParaRPr>
          </a:p>
        </p:txBody>
      </p:sp>
      <p:sp>
        <p:nvSpPr>
          <p:cNvPr id="5" name="Rectangle: Rounded Corners 4">
            <a:extLst>
              <a:ext uri="{FF2B5EF4-FFF2-40B4-BE49-F238E27FC236}">
                <a16:creationId xmlns:a16="http://schemas.microsoft.com/office/drawing/2014/main" id="{6EEBEFDE-2334-AD5A-F42C-006BE803C7F2}"/>
              </a:ext>
            </a:extLst>
          </p:cNvPr>
          <p:cNvSpPr/>
          <p:nvPr/>
        </p:nvSpPr>
        <p:spPr>
          <a:xfrm>
            <a:off x="4112260" y="2753361"/>
            <a:ext cx="3886200" cy="875606"/>
          </a:xfrm>
          <a:prstGeom prst="roundRect">
            <a:avLst>
              <a:gd name="adj" fmla="val 10186"/>
            </a:avLst>
          </a:prstGeom>
          <a:solidFill>
            <a:schemeClr val="accent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a:t>
            </a:r>
            <a:r>
              <a:rPr lang="en-US" dirty="0">
                <a:solidFill>
                  <a:schemeClr val="bg1"/>
                </a:solidFill>
              </a:rPr>
              <a:t> helping reduce excess inventory and stock shortages.</a:t>
            </a:r>
          </a:p>
        </p:txBody>
      </p:sp>
      <p:sp>
        <p:nvSpPr>
          <p:cNvPr id="15" name="Rectangle: Rounded Corners 14">
            <a:extLst>
              <a:ext uri="{FF2B5EF4-FFF2-40B4-BE49-F238E27FC236}">
                <a16:creationId xmlns:a16="http://schemas.microsoft.com/office/drawing/2014/main" id="{FF52FFAD-3B19-E179-A39B-A60C60350F45}"/>
              </a:ext>
            </a:extLst>
          </p:cNvPr>
          <p:cNvSpPr/>
          <p:nvPr/>
        </p:nvSpPr>
        <p:spPr>
          <a:xfrm>
            <a:off x="8120380" y="2753361"/>
            <a:ext cx="3886200" cy="875606"/>
          </a:xfrm>
          <a:prstGeom prst="roundRect">
            <a:avLst>
              <a:gd name="adj" fmla="val 10186"/>
            </a:avLst>
          </a:prstGeom>
          <a:solidFill>
            <a:schemeClr val="tx2">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a:t>
            </a:r>
            <a:r>
              <a:rPr lang="en-US" dirty="0">
                <a:solidFill>
                  <a:schemeClr val="bg1"/>
                </a:solidFill>
              </a:rPr>
              <a:t> Reduced total costs by $1.37M.</a:t>
            </a:r>
          </a:p>
        </p:txBody>
      </p:sp>
      <p:sp>
        <p:nvSpPr>
          <p:cNvPr id="16" name="Rectangle: Rounded Corners 15">
            <a:extLst>
              <a:ext uri="{FF2B5EF4-FFF2-40B4-BE49-F238E27FC236}">
                <a16:creationId xmlns:a16="http://schemas.microsoft.com/office/drawing/2014/main" id="{4D05CA42-FDC6-E747-6D6A-6FFA5F3C2011}"/>
              </a:ext>
            </a:extLst>
          </p:cNvPr>
          <p:cNvSpPr/>
          <p:nvPr/>
        </p:nvSpPr>
        <p:spPr>
          <a:xfrm>
            <a:off x="195580" y="5555674"/>
            <a:ext cx="3797300" cy="875606"/>
          </a:xfrm>
          <a:prstGeom prst="roundRect">
            <a:avLst>
              <a:gd name="adj" fmla="val 10186"/>
            </a:avLst>
          </a:prstGeom>
          <a:solidFill>
            <a:srgbClr val="A6A20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a:t>
            </a:r>
            <a:r>
              <a:rPr lang="en-US" dirty="0">
                <a:solidFill>
                  <a:schemeClr val="bg1"/>
                </a:solidFill>
              </a:rPr>
              <a:t> This optimization Increased profit margin from 75.30% to 76.33%</a:t>
            </a:r>
            <a:endParaRPr lang="en-IN" dirty="0">
              <a:solidFill>
                <a:schemeClr val="bg1"/>
              </a:solidFill>
            </a:endParaRPr>
          </a:p>
        </p:txBody>
      </p:sp>
      <p:sp>
        <p:nvSpPr>
          <p:cNvPr id="17" name="Rectangle: Rounded Corners 16">
            <a:extLst>
              <a:ext uri="{FF2B5EF4-FFF2-40B4-BE49-F238E27FC236}">
                <a16:creationId xmlns:a16="http://schemas.microsoft.com/office/drawing/2014/main" id="{DB0ED911-77BE-C099-B566-23FA15693F01}"/>
              </a:ext>
            </a:extLst>
          </p:cNvPr>
          <p:cNvSpPr/>
          <p:nvPr/>
        </p:nvSpPr>
        <p:spPr>
          <a:xfrm>
            <a:off x="4112260" y="5555674"/>
            <a:ext cx="3886200" cy="875606"/>
          </a:xfrm>
          <a:prstGeom prst="roundRect">
            <a:avLst>
              <a:gd name="adj" fmla="val 10186"/>
            </a:avLst>
          </a:prstGeom>
          <a:solidFill>
            <a:schemeClr val="accent4">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a:t>
            </a:r>
            <a:r>
              <a:rPr lang="en-US" dirty="0">
                <a:solidFill>
                  <a:schemeClr val="bg1"/>
                </a:solidFill>
              </a:rPr>
              <a:t> Reallocated employees based on sales performance and operational efficiency.</a:t>
            </a:r>
            <a:endParaRPr lang="en-IN" dirty="0">
              <a:solidFill>
                <a:schemeClr val="bg1"/>
              </a:solidFill>
            </a:endParaRPr>
          </a:p>
        </p:txBody>
      </p:sp>
      <p:sp>
        <p:nvSpPr>
          <p:cNvPr id="18" name="Rectangle: Rounded Corners 17">
            <a:extLst>
              <a:ext uri="{FF2B5EF4-FFF2-40B4-BE49-F238E27FC236}">
                <a16:creationId xmlns:a16="http://schemas.microsoft.com/office/drawing/2014/main" id="{7A584B49-94BA-4BA7-4364-429B382BC7EC}"/>
              </a:ext>
            </a:extLst>
          </p:cNvPr>
          <p:cNvSpPr/>
          <p:nvPr/>
        </p:nvSpPr>
        <p:spPr>
          <a:xfrm>
            <a:off x="8121650" y="5555679"/>
            <a:ext cx="3883660" cy="875601"/>
          </a:xfrm>
          <a:prstGeom prst="roundRect">
            <a:avLst>
              <a:gd name="adj" fmla="val 10186"/>
            </a:avLst>
          </a:prstGeom>
          <a:solidFill>
            <a:schemeClr val="accent5">
              <a:lumMod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Impact:</a:t>
            </a:r>
            <a:r>
              <a:rPr lang="en-US" dirty="0">
                <a:solidFill>
                  <a:schemeClr val="bg1"/>
                </a:solidFill>
              </a:rPr>
              <a:t> Stronger customer relationships and brand loyalty.</a:t>
            </a:r>
            <a:endParaRPr lang="en-IN" dirty="0">
              <a:solidFill>
                <a:schemeClr val="bg1"/>
              </a:solidFill>
            </a:endParaRPr>
          </a:p>
        </p:txBody>
      </p:sp>
    </p:spTree>
    <p:extLst>
      <p:ext uri="{BB962C8B-B14F-4D97-AF65-F5344CB8AC3E}">
        <p14:creationId xmlns:p14="http://schemas.microsoft.com/office/powerpoint/2010/main" val="2356328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4843</TotalTime>
  <Words>703</Words>
  <Application>Microsoft Office PowerPoint</Application>
  <PresentationFormat>Widescreen</PresentationFormat>
  <Paragraphs>153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Century Gothic</vt:lpstr>
      <vt:lpstr>Segoe UI Light</vt:lpstr>
      <vt:lpstr>Office Theme</vt:lpstr>
      <vt:lpstr>Optimizing Supply Chain Efficiency Using Data Analytics    Excel | Python | SQL | Power BI  Presentation by Abhijeet Singh Data Analyst Intern</vt:lpstr>
      <vt:lpstr>Project analysis slide 3</vt:lpstr>
      <vt:lpstr>Project analysis slide 3</vt:lpstr>
      <vt:lpstr>Project analysis slide 3</vt:lpstr>
      <vt:lpstr>Project analysis slide 3</vt:lpstr>
      <vt:lpstr>Project analysis slide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nibha6k@gmail.com</dc:creator>
  <cp:lastModifiedBy>nibha6k@gmail.com</cp:lastModifiedBy>
  <cp:revision>19</cp:revision>
  <dcterms:created xsi:type="dcterms:W3CDTF">2026-05-10T16:47:15Z</dcterms:created>
  <dcterms:modified xsi:type="dcterms:W3CDTF">2026-05-14T16:15:11Z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